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Вітаю. Мій проєкт — Arena Action, прототип бойової механіки для 3D ізометричного арена-екшену на ПК. Ідея за 30 секунд: динамічний ближній бій із 3-ударним комбо та буфером введення 200 мс, ривок із кадрами невразливості 0.2 с, який можна використати як dash-cancel, і миттєва зміна модулів зброї клавішею Q прямо в бою. Працюю самостійно.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Роль у Core Loop: це ядро бойового циклу — рух, комбо-атака, ривок за укриття з dash-cancel, перемикання модуля зброї та знищення хвилі. На вході — WASD, ЛКМ або J, Space, Q і таймери кулдаунів. На виході — hitbox, стан i-frames, візуальний фідбек і зменшення HP ворогів. Ігрова ситуація на 1–2 хвилини: бій у центрі арени проти хвилі з п'яти ворогів. Прототип вважаю робочим, якщо виконуються три критерії внизу.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Блок-схема показує, як обробляється кожна дія гравця. Зелений колір — механіка: хітбокс і перехід між ударами комбо, dash-cancel з i-frames 0.2 с, перемикання модуля між клинком і списом з AoE. Жовтий — зворотний зв'язок: hit-stop 0.1 с, білий спалах ворога, шлейф ривка, оновлення іконки в HUD. Червоний — стани відмови: оглушення, промах із повним Recovery та кулдаун ривка 0.8 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Порівнюю проєкт із Hades, Dead Cells і Hyper Light Drifter за п'ятьма критеріями: основна механіка, ухилення, модифікація зброї, зворотний зв'язок і простір. Від Dead Cells і Hades беру чуйність керування — input buffer та dash-cancel. Головна відмінність мого проєкту — миттєва зміна модулів зброї однією клавішею прямо в розпалі бою: швидкість проти радіуса AoE.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Ліворуч — псевдокод ігрового циклу: поки гравець живий, першим перевіряється ривок з i-frames 0.2 с і кулдауном 0.8 с, далі атака з буфером 200 мс, розрахунок хітбоксу і виклик HitStop на 0.1 с, а також перемикання модуля на Q. Праворуч — діаграма станів: Idle і Move, Attack з трьома ударами, Dash, який перериває Attack, жовтий стан HitConfirm з мікропаузою, а також червоні Stagger і Dead при HP не більше нуля.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 порівняв три ескізи арени зверху. Кругла арена відхилена через одноманітний кайтинг по колу, Т-подібний коридор — через затиснення в глухих кутах. Обрана арена з чотирма колонами: вони розбивають натовп під AoE-модуль і дають укриття для ривка. Швидкий тест провів одногрупник: виявилося блокування ривка біля вузького проходу та пропуски третього удару. Після цього я додав Input Buffer 200 мс і розширив простір біля колон на 20%. Інтерактивний веб-прототип на HTML5 Canvas запущено на GitHub Pages.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індивідуальний проєкт, тож я поєдную три ролі: Gameplay Programmer, System Game Designer і 3D Blockout Artist. Ідею обирав свідомо: відмовився від масштабної RPG на користь глибокого опрацювання однієї ключової системи — тактильної бойової механіки, game feel, яку реально якісно протестувати за семестр. Інструменти: Unity, Blender, Figma або draw.io для схем, а версії зберігаю в Git на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Фінальний формат — ігровий прототип однієї механіки. За MoSCoW: обов'язково 3-ударне комбо з буфером 200 мс, dash-cancel з i-frames 0.2 с, хітбокси та hit-stop з hit-flash. Бажано — перемикання двох модулів зброї на льоту, арена з чотирма колонами і базовий AI на NavMesh. Якщо вистачить часу — VFX-шлейфи та звук. Головний ризик — конфлікт переходів у State Machine при перериванні атак ривком, тому перевірю це в перші сім днів на сірих примітивах. План на чотири тижні: стан і рух, комбо з буфером, dash-cancel з blockout арени, вороги, фідбек і фінальний білд. Дякую за увагу.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064261"/>
            <a:ext cx="10566400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F2F4F8"/>
                </a:solidFill>
                <a:latin typeface="Oswald" pitchFamily="34" charset="0"/>
                <a:ea typeface="Oswald" pitchFamily="34" charset="-122"/>
                <a:cs typeface="Oswa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778001"/>
            <a:ext cx="10566400" cy="4267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2F4F8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064261"/>
            <a:ext cx="10566400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F2F4F8"/>
                </a:solidFill>
                <a:latin typeface="Oswald" pitchFamily="34" charset="0"/>
                <a:ea typeface="Oswald" pitchFamily="34" charset="-122"/>
                <a:cs typeface="Oswa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778001"/>
            <a:ext cx="10566400" cy="4267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2F4F8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6EA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ЧАСТИНА 1 · 3D ІЗОМЕТРИЧНИЙ АРЕНА-ЕКШЕН ДЛЯ ПК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0"/>
            <a:ext cx="10883392" cy="1038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980"/>
              </a:lnSpc>
              <a:buNone/>
            </a:pPr>
            <a:r>
              <a:rPr lang="en-US" sz="7600" b="1" i="0" dirty="0">
                <a:solidFill>
                  <a:srgbClr val="F2F4F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ARENA ACTION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812800" y="2242820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dirty="0">
                <a:solidFill>
                  <a:srgbClr val="6EA8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Прототип бойової механіки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12800" y="2753360"/>
            <a:ext cx="91567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2F4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Ідея за 30 секунд:</a:t>
            </a:r>
            <a:r>
              <a:rPr lang="en-US" sz="16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динамічний ближній бій із комбо, ривком на кадрах невразливості та миттєвою зміною модуля зброї прямо під час бою — без паузи.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342392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Автор: Єгор · самостійна робота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5975" y="4653915"/>
            <a:ext cx="2520950" cy="1388110"/>
          </a:xfrm>
          <a:prstGeom prst="roundRect">
            <a:avLst>
              <a:gd name="adj" fmla="val 7091"/>
            </a:avLst>
          </a:prstGeom>
          <a:solidFill>
            <a:srgbClr val="19212D"/>
          </a:solidFill>
          <a:ln w="6350">
            <a:solidFill>
              <a:srgbClr val="2F3B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950" y="4834890"/>
            <a:ext cx="222377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6EA8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996950" y="5431790"/>
            <a:ext cx="222377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удари в комбо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95675" y="4653915"/>
            <a:ext cx="2520950" cy="1388110"/>
          </a:xfrm>
          <a:prstGeom prst="roundRect">
            <a:avLst>
              <a:gd name="adj" fmla="val 7091"/>
            </a:avLst>
          </a:prstGeom>
          <a:solidFill>
            <a:srgbClr val="19212D"/>
          </a:solidFill>
          <a:ln w="6350">
            <a:solidFill>
              <a:srgbClr val="2F3B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76650" y="4834890"/>
            <a:ext cx="222377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6EA8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200 мс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676650" y="5431790"/>
            <a:ext cx="222377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буфер введення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5375" y="4653915"/>
            <a:ext cx="2520950" cy="1388110"/>
          </a:xfrm>
          <a:prstGeom prst="roundRect">
            <a:avLst>
              <a:gd name="adj" fmla="val 7091"/>
            </a:avLst>
          </a:prstGeom>
          <a:solidFill>
            <a:srgbClr val="19212D"/>
          </a:solidFill>
          <a:ln w="6350">
            <a:solidFill>
              <a:srgbClr val="2F3B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6350" y="4834890"/>
            <a:ext cx="222377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6EA8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0.2 с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356350" y="5431790"/>
            <a:ext cx="2223770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i-frames ривка (dash-cancel)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55075" y="4653915"/>
            <a:ext cx="2520950" cy="1388110"/>
          </a:xfrm>
          <a:prstGeom prst="roundRect">
            <a:avLst>
              <a:gd name="adj" fmla="val 7091"/>
            </a:avLst>
          </a:prstGeom>
          <a:solidFill>
            <a:srgbClr val="19212D"/>
          </a:solidFill>
          <a:ln w="6350">
            <a:solidFill>
              <a:srgbClr val="2F3B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36050" y="4834890"/>
            <a:ext cx="222377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6EA8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036050" y="5431790"/>
            <a:ext cx="2223770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зміна модуля зброї без паузи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6EA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02 · МЕХАНІКА І ІГРОВИЙ ЦИКЛ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64260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F2F4F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Ядро бойового циклу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9150" y="1631950"/>
            <a:ext cx="1775460" cy="668020"/>
          </a:xfrm>
          <a:prstGeom prst="roundRect">
            <a:avLst>
              <a:gd name="adj" fmla="val 12357"/>
            </a:avLst>
          </a:prstGeom>
          <a:solidFill>
            <a:srgbClr val="19212D"/>
          </a:solidFill>
          <a:ln w="12700">
            <a:solidFill>
              <a:srgbClr val="6EA8FF"/>
            </a:solidFill>
            <a:prstDash val="solid"/>
          </a:ln>
        </p:spPr>
        <p:txBody>
          <a:bodyPr wrap="square" lIns="71072" tIns="96472" rIns="71072" bIns="96472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F2F4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Рух</a:t>
            </a:r>
            <a:endParaRPr lang="en-US" sz="1400" dirty="0"/>
          </a:p>
        </p:txBody>
      </p:sp>
      <p:pic>
        <p:nvPicPr>
          <p:cNvPr id="5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77160" y="1902460"/>
            <a:ext cx="254000" cy="127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013710" y="1631950"/>
            <a:ext cx="1775460" cy="668020"/>
          </a:xfrm>
          <a:prstGeom prst="roundRect">
            <a:avLst>
              <a:gd name="adj" fmla="val 12357"/>
            </a:avLst>
          </a:prstGeom>
          <a:solidFill>
            <a:srgbClr val="19212D"/>
          </a:solidFill>
          <a:ln w="12700">
            <a:solidFill>
              <a:srgbClr val="6EA8FF"/>
            </a:solidFill>
            <a:prstDash val="solid"/>
          </a:ln>
        </p:spPr>
        <p:txBody>
          <a:bodyPr wrap="square" lIns="71072" tIns="96472" rIns="71072" bIns="96472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F2F4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Комбо-атака</a:t>
            </a:r>
            <a:endParaRPr lang="en-US" sz="1400" dirty="0"/>
          </a:p>
        </p:txBody>
      </p:sp>
      <p:pic>
        <p:nvPicPr>
          <p:cNvPr id="7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71720" y="1902460"/>
            <a:ext cx="254000" cy="127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08270" y="1631950"/>
            <a:ext cx="1775460" cy="668020"/>
          </a:xfrm>
          <a:prstGeom prst="roundRect">
            <a:avLst>
              <a:gd name="adj" fmla="val 12357"/>
            </a:avLst>
          </a:prstGeom>
          <a:solidFill>
            <a:srgbClr val="14284A"/>
          </a:solidFill>
          <a:ln w="12700">
            <a:solidFill>
              <a:srgbClr val="6EA8FF"/>
            </a:solidFill>
            <a:prstDash val="solid"/>
          </a:ln>
        </p:spPr>
        <p:txBody>
          <a:bodyPr wrap="square" lIns="45672" tIns="83772" rIns="45672" bIns="83772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F2F4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Ривок за укриття (dash-cancel)</a:t>
            </a:r>
            <a:endParaRPr lang="en-US" sz="1400" dirty="0"/>
          </a:p>
        </p:txBody>
      </p:sp>
      <p:pic>
        <p:nvPicPr>
          <p:cNvPr id="9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66280" y="1902460"/>
            <a:ext cx="254000" cy="127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02830" y="1631950"/>
            <a:ext cx="1775460" cy="668020"/>
          </a:xfrm>
          <a:prstGeom prst="roundRect">
            <a:avLst>
              <a:gd name="adj" fmla="val 12357"/>
            </a:avLst>
          </a:prstGeom>
          <a:solidFill>
            <a:srgbClr val="19212D"/>
          </a:solidFill>
          <a:ln w="12700">
            <a:solidFill>
              <a:srgbClr val="6EA8FF"/>
            </a:solidFill>
            <a:prstDash val="solid"/>
          </a:ln>
        </p:spPr>
        <p:txBody>
          <a:bodyPr wrap="square" lIns="45672" tIns="83772" rIns="45672" bIns="83772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F2F4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Перемикання модуля зброї</a:t>
            </a:r>
            <a:endParaRPr lang="en-US" sz="1400" dirty="0"/>
          </a:p>
        </p:txBody>
      </p:sp>
      <p:pic>
        <p:nvPicPr>
          <p:cNvPr id="11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60840" y="1902460"/>
            <a:ext cx="254000" cy="1270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597390" y="1631950"/>
            <a:ext cx="1775460" cy="668020"/>
          </a:xfrm>
          <a:prstGeom prst="roundRect">
            <a:avLst>
              <a:gd name="adj" fmla="val 12357"/>
            </a:avLst>
          </a:prstGeom>
          <a:solidFill>
            <a:srgbClr val="19212D"/>
          </a:solidFill>
          <a:ln w="12700">
            <a:solidFill>
              <a:srgbClr val="6EA8FF"/>
            </a:solidFill>
            <a:prstDash val="solid"/>
          </a:ln>
        </p:spPr>
        <p:txBody>
          <a:bodyPr wrap="square" lIns="71072" tIns="96472" rIns="71072" bIns="96472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F2F4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Знищення хвилі</a:t>
            </a:r>
            <a:endParaRPr lang="en-US" sz="1400" dirty="0"/>
          </a:p>
        </p:txBody>
      </p:sp>
      <p:sp>
        <p:nvSpPr>
          <p:cNvPr id="13" name="Shape 7"/>
          <p:cNvSpPr/>
          <p:nvPr/>
        </p:nvSpPr>
        <p:spPr>
          <a:xfrm>
            <a:off x="815975" y="2461895"/>
            <a:ext cx="3414183" cy="1828800"/>
          </a:xfrm>
          <a:prstGeom prst="roundRect">
            <a:avLst>
              <a:gd name="adj" fmla="val 5382"/>
            </a:avLst>
          </a:prstGeom>
          <a:solidFill>
            <a:srgbClr val="19212D"/>
          </a:solidFill>
          <a:ln w="6350">
            <a:solidFill>
              <a:srgbClr val="2F3B4D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996950" y="2642870"/>
            <a:ext cx="3143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6EA8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Входи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1094994" y="2947670"/>
            <a:ext cx="3038136" cy="1187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E3E8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WASD — рух</a:t>
            </a:r>
            <a:endParaRPr lang="en-US" sz="1300" dirty="0"/>
          </a:p>
          <a:p>
            <a:pPr algn="l" marL="155956" indent="-1559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E3E8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ЛКМ / J — атака</a:t>
            </a:r>
            <a:endParaRPr lang="en-US" sz="1300" dirty="0"/>
          </a:p>
          <a:p>
            <a:pPr algn="l" marL="155956" indent="-1559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E3E8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Space — ривок</a:t>
            </a:r>
            <a:endParaRPr lang="en-US" sz="1300" dirty="0"/>
          </a:p>
          <a:p>
            <a:pPr algn="l" marL="155956" indent="-1559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E3E8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Q — зміна модуля</a:t>
            </a:r>
            <a:endParaRPr lang="en-US" sz="1300" dirty="0"/>
          </a:p>
          <a:p>
            <a:pPr algn="l" marL="155956" indent="-1559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E3E8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Таймери кулдаунів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4388908" y="2461895"/>
            <a:ext cx="3414183" cy="1828800"/>
          </a:xfrm>
          <a:prstGeom prst="roundRect">
            <a:avLst>
              <a:gd name="adj" fmla="val 5382"/>
            </a:avLst>
          </a:prstGeom>
          <a:solidFill>
            <a:srgbClr val="19212D"/>
          </a:solidFill>
          <a:ln w="6350">
            <a:solidFill>
              <a:srgbClr val="2F3B4D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4569883" y="2642870"/>
            <a:ext cx="3143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6EA8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Виходи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4667927" y="2947670"/>
            <a:ext cx="3038136" cy="955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E3E8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Розрахунок hitbox</a:t>
            </a:r>
            <a:endParaRPr lang="en-US" sz="1300" dirty="0"/>
          </a:p>
          <a:p>
            <a:pPr algn="l" marL="155956" indent="-1559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E3E8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Стан i-frames</a:t>
            </a:r>
            <a:endParaRPr lang="en-US" sz="1300" dirty="0"/>
          </a:p>
          <a:p>
            <a:pPr algn="l" marL="155956" indent="-1559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E3E8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Hit-stop 0.1 с + hit-flash</a:t>
            </a:r>
            <a:endParaRPr lang="en-US" sz="1300" dirty="0"/>
          </a:p>
          <a:p>
            <a:pPr algn="l" marL="155956" indent="-1559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E3E8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Зменшення HP ворогів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7961842" y="2461895"/>
            <a:ext cx="3414183" cy="1828800"/>
          </a:xfrm>
          <a:prstGeom prst="roundRect">
            <a:avLst>
              <a:gd name="adj" fmla="val 5382"/>
            </a:avLst>
          </a:prstGeom>
          <a:solidFill>
            <a:srgbClr val="19212D"/>
          </a:solidFill>
          <a:ln w="6350">
            <a:solidFill>
              <a:srgbClr val="2F3B4D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8142817" y="2642870"/>
            <a:ext cx="3143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6EA8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Ігрова ситуація · 1–2 хв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240861" y="2947670"/>
            <a:ext cx="303813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E3E8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Центр арени, хвиля з 5 ворогів</a:t>
            </a:r>
            <a:endParaRPr lang="en-US" sz="1300" dirty="0"/>
          </a:p>
          <a:p>
            <a:pPr algn="l" marL="155956" indent="-1559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E3E8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Dash-cancel для виходу з-під ударів</a:t>
            </a:r>
            <a:endParaRPr lang="en-US" sz="1300" dirty="0"/>
          </a:p>
          <a:p>
            <a:pPr algn="l" marL="155956" indent="-1559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E3E8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Перемикання на AoE-модуль по групі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819150" y="4452620"/>
            <a:ext cx="3407833" cy="1000760"/>
          </a:xfrm>
          <a:prstGeom prst="roundRect">
            <a:avLst>
              <a:gd name="adj" fmla="val 9518"/>
            </a:avLst>
          </a:prstGeom>
          <a:solidFill>
            <a:srgbClr val="0F2E22"/>
          </a:solidFill>
          <a:ln w="12700">
            <a:solidFill>
              <a:srgbClr val="3DDC97"/>
            </a:solidFill>
            <a:prstDash val="solid"/>
          </a:ln>
        </p:spPr>
      </p:sp>
      <p:pic>
        <p:nvPicPr>
          <p:cNvPr id="23" name="Image 4" descr="Che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77900" y="4598670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82700" y="4606290"/>
            <a:ext cx="239128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DC9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Критерій 1 · працює, якщо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977900" y="4878070"/>
            <a:ext cx="3183043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E6FFF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Ривок перериває атаку й дає 0.2 с невразливості (i-frames)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4392083" y="4452620"/>
            <a:ext cx="3407833" cy="1000760"/>
          </a:xfrm>
          <a:prstGeom prst="roundRect">
            <a:avLst>
              <a:gd name="adj" fmla="val 9518"/>
            </a:avLst>
          </a:prstGeom>
          <a:solidFill>
            <a:srgbClr val="0F2E22"/>
          </a:solidFill>
          <a:ln w="12700">
            <a:solidFill>
              <a:srgbClr val="3DDC97"/>
            </a:solidFill>
            <a:prstDash val="solid"/>
          </a:ln>
        </p:spPr>
      </p:sp>
      <p:pic>
        <p:nvPicPr>
          <p:cNvPr id="27" name="Image 5" descr="Check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550833" y="4598670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855633" y="4606290"/>
            <a:ext cx="241960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DC9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Критерій 2 · працює, якщо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4550833" y="4878070"/>
            <a:ext cx="3183043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E6FFF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Input buffer 150–200 мс з'єднує 3 удари комбо без спаму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7965017" y="4452620"/>
            <a:ext cx="3407833" cy="1000760"/>
          </a:xfrm>
          <a:prstGeom prst="roundRect">
            <a:avLst>
              <a:gd name="adj" fmla="val 9518"/>
            </a:avLst>
          </a:prstGeom>
          <a:solidFill>
            <a:srgbClr val="0F2E22"/>
          </a:solidFill>
          <a:ln w="12700">
            <a:solidFill>
              <a:srgbClr val="3DDC97"/>
            </a:solidFill>
            <a:prstDash val="solid"/>
          </a:ln>
        </p:spPr>
      </p:sp>
      <p:pic>
        <p:nvPicPr>
          <p:cNvPr id="31" name="Image 6" descr="Check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123767" y="4598670"/>
            <a:ext cx="228600" cy="22860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428567" y="4606290"/>
            <a:ext cx="242138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DC9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Критерій 3 · працює, якщо</a:t>
            </a:r>
            <a:endParaRPr lang="en-US" sz="1200" dirty="0"/>
          </a:p>
        </p:txBody>
      </p:sp>
      <p:sp>
        <p:nvSpPr>
          <p:cNvPr id="33" name="Text 24"/>
          <p:cNvSpPr/>
          <p:nvPr/>
        </p:nvSpPr>
        <p:spPr>
          <a:xfrm>
            <a:off x="8123767" y="4878070"/>
            <a:ext cx="3183043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E6FFF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Є чіткий фідбек: hit-flash 0.1 с, hit-stop і коректне зняття HP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812800" y="6238239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7A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Arena Action · Частина 1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7A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 / 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6EA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03 · БЛОК-СХЕМА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64261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F2F4F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Обробка дій гравця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625600"/>
            <a:ext cx="1447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ВХІД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86000" y="1625600"/>
            <a:ext cx="306967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3DDC9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МЕХАНІКА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42467" y="1625600"/>
            <a:ext cx="306967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C9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ЗВОРОТНИЙ ЗВ'ЯЗОК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98933" y="1625600"/>
            <a:ext cx="306967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6B7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СТАНИ ВІДМОВИ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5975" y="1994536"/>
            <a:ext cx="1390650" cy="666750"/>
          </a:xfrm>
          <a:prstGeom prst="roundRect">
            <a:avLst>
              <a:gd name="adj" fmla="val 12857"/>
            </a:avLst>
          </a:prstGeom>
          <a:solidFill>
            <a:srgbClr val="19212D"/>
          </a:solidFill>
          <a:ln w="6350">
            <a:solidFill>
              <a:srgbClr val="2F3B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0750" y="2104389"/>
            <a:ext cx="123190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F2F4F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ЛКМ / J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20750" y="2368550"/>
            <a:ext cx="12319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Атака</a:t>
            </a:r>
            <a:endParaRPr lang="en-US" sz="1200" dirty="0"/>
          </a:p>
        </p:txBody>
      </p:sp>
      <p:pic>
        <p:nvPicPr>
          <p:cNvPr id="11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0" y="2264411"/>
            <a:ext cx="254000" cy="1270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622550" y="1997711"/>
            <a:ext cx="2518833" cy="660400"/>
          </a:xfrm>
          <a:prstGeom prst="roundRect">
            <a:avLst>
              <a:gd name="adj" fmla="val 12500"/>
            </a:avLst>
          </a:prstGeom>
          <a:solidFill>
            <a:srgbClr val="0F2E22"/>
          </a:solidFill>
          <a:ln w="12700">
            <a:solidFill>
              <a:srgbClr val="3DDC97"/>
            </a:solidFill>
            <a:prstDash val="solid"/>
          </a:ln>
        </p:spPr>
        <p:txBody>
          <a:bodyPr wrap="square" lIns="96472" tIns="71072" rIns="28146" bIns="71072" rtlCol="0" anchor="ctr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FFF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Розрахунок хітбоксу → комбо 1-2-3</a:t>
            </a:r>
            <a:endParaRPr lang="en-US" sz="1400" dirty="0"/>
          </a:p>
        </p:txBody>
      </p:sp>
      <p:pic>
        <p:nvPicPr>
          <p:cNvPr id="1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23933" y="2264411"/>
            <a:ext cx="254000" cy="1270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60483" y="1997711"/>
            <a:ext cx="2518833" cy="660400"/>
          </a:xfrm>
          <a:prstGeom prst="roundRect">
            <a:avLst>
              <a:gd name="adj" fmla="val 12500"/>
            </a:avLst>
          </a:prstGeom>
          <a:solidFill>
            <a:srgbClr val="3A2F0B"/>
          </a:solidFill>
          <a:ln w="12700">
            <a:solidFill>
              <a:srgbClr val="FFC93C"/>
            </a:solidFill>
            <a:prstDash val="solid"/>
          </a:ln>
        </p:spPr>
        <p:txBody>
          <a:bodyPr wrap="square" lIns="96472" tIns="71072" rIns="28146" bIns="71072" rtlCol="0" anchor="ctr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F4D1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Hit-stop 0.1 с + білий спалах ворога (Hit-flash)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8154384" y="2221230"/>
            <a:ext cx="62445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6B7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інакше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854017" y="1997711"/>
            <a:ext cx="2518833" cy="660400"/>
          </a:xfrm>
          <a:prstGeom prst="roundRect">
            <a:avLst>
              <a:gd name="adj" fmla="val 12500"/>
            </a:avLst>
          </a:prstGeom>
          <a:solidFill>
            <a:srgbClr val="3A1218"/>
          </a:solidFill>
          <a:ln w="12700">
            <a:solidFill>
              <a:srgbClr val="FF6B7A"/>
            </a:solidFill>
            <a:prstDash val="solid"/>
          </a:ln>
        </p:spPr>
        <p:txBody>
          <a:bodyPr wrap="square" lIns="96472" tIns="71072" rIns="28146" bIns="71072" rtlCol="0" anchor="ctr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E3E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Промах → повний Recovery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15975" y="2769236"/>
            <a:ext cx="1390650" cy="666750"/>
          </a:xfrm>
          <a:prstGeom prst="roundRect">
            <a:avLst>
              <a:gd name="adj" fmla="val 12857"/>
            </a:avLst>
          </a:prstGeom>
          <a:solidFill>
            <a:srgbClr val="19212D"/>
          </a:solidFill>
          <a:ln w="6350">
            <a:solidFill>
              <a:srgbClr val="2F3B4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20750" y="2879089"/>
            <a:ext cx="123190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F2F4F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Space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920750" y="3143250"/>
            <a:ext cx="12319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Ривок</a:t>
            </a:r>
            <a:endParaRPr lang="en-US" sz="1200" dirty="0"/>
          </a:p>
        </p:txBody>
      </p:sp>
      <p:pic>
        <p:nvPicPr>
          <p:cNvPr id="20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286000" y="3039111"/>
            <a:ext cx="254000" cy="1270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622550" y="2772411"/>
            <a:ext cx="2518833" cy="660400"/>
          </a:xfrm>
          <a:prstGeom prst="roundRect">
            <a:avLst>
              <a:gd name="adj" fmla="val 12500"/>
            </a:avLst>
          </a:prstGeom>
          <a:solidFill>
            <a:srgbClr val="0F2E22"/>
          </a:solidFill>
          <a:ln w="12700">
            <a:solidFill>
              <a:srgbClr val="3DDC97"/>
            </a:solidFill>
            <a:prstDash val="solid"/>
          </a:ln>
        </p:spPr>
        <p:txBody>
          <a:bodyPr wrap="square" lIns="96472" tIns="71072" rIns="28146" bIns="71072" rtlCol="0" anchor="ctr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FFF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Dash-cancel + i-frames 0.2 с</a:t>
            </a:r>
            <a:endParaRPr lang="en-US" sz="1400" dirty="0"/>
          </a:p>
        </p:txBody>
      </p:sp>
      <p:pic>
        <p:nvPicPr>
          <p:cNvPr id="22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223933" y="3039111"/>
            <a:ext cx="254000" cy="1270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60483" y="2772411"/>
            <a:ext cx="2518833" cy="660400"/>
          </a:xfrm>
          <a:prstGeom prst="roundRect">
            <a:avLst>
              <a:gd name="adj" fmla="val 12500"/>
            </a:avLst>
          </a:prstGeom>
          <a:solidFill>
            <a:srgbClr val="3A2F0B"/>
          </a:solidFill>
          <a:ln w="12700">
            <a:solidFill>
              <a:srgbClr val="FFC93C"/>
            </a:solidFill>
            <a:prstDash val="solid"/>
          </a:ln>
        </p:spPr>
        <p:txBody>
          <a:bodyPr wrap="square" lIns="96472" tIns="83772" rIns="96472" bIns="83772" rtlCol="0" anchor="ctr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F4D1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Шлейф ривка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8154384" y="2995930"/>
            <a:ext cx="62445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6B7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інакше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8854017" y="2772411"/>
            <a:ext cx="2518833" cy="660400"/>
          </a:xfrm>
          <a:prstGeom prst="roundRect">
            <a:avLst>
              <a:gd name="adj" fmla="val 12500"/>
            </a:avLst>
          </a:prstGeom>
          <a:solidFill>
            <a:srgbClr val="3A1218"/>
          </a:solidFill>
          <a:ln w="12700">
            <a:solidFill>
              <a:srgbClr val="FF6B7A"/>
            </a:solidFill>
            <a:prstDash val="solid"/>
          </a:ln>
        </p:spPr>
        <p:txBody>
          <a:bodyPr wrap="square" lIns="96472" tIns="71072" rIns="28146" bIns="71072" rtlCol="0" anchor="ctr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E3E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Кулдаун 0.8 с — ривок заблоковано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815975" y="3543936"/>
            <a:ext cx="1390650" cy="666750"/>
          </a:xfrm>
          <a:prstGeom prst="roundRect">
            <a:avLst>
              <a:gd name="adj" fmla="val 12857"/>
            </a:avLst>
          </a:prstGeom>
          <a:solidFill>
            <a:srgbClr val="19212D"/>
          </a:solidFill>
          <a:ln w="6350">
            <a:solidFill>
              <a:srgbClr val="2F3B4D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920750" y="3653789"/>
            <a:ext cx="1231900" cy="27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F2F4F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Q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920750" y="3917950"/>
            <a:ext cx="12319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Модуль зброї</a:t>
            </a:r>
            <a:endParaRPr lang="en-US" sz="1200" dirty="0"/>
          </a:p>
        </p:txBody>
      </p:sp>
      <p:pic>
        <p:nvPicPr>
          <p:cNvPr id="29" name="Image 4" descr="arrow-righ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286000" y="3813811"/>
            <a:ext cx="254000" cy="1270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2622550" y="3547111"/>
            <a:ext cx="2518833" cy="660400"/>
          </a:xfrm>
          <a:prstGeom prst="roundRect">
            <a:avLst>
              <a:gd name="adj" fmla="val 12500"/>
            </a:avLst>
          </a:prstGeom>
          <a:solidFill>
            <a:srgbClr val="0F2E22"/>
          </a:solidFill>
          <a:ln w="12700">
            <a:solidFill>
              <a:srgbClr val="3DDC97"/>
            </a:solidFill>
            <a:prstDash val="solid"/>
          </a:ln>
        </p:spPr>
        <p:txBody>
          <a:bodyPr wrap="square" lIns="96472" tIns="71072" rIns="28146" bIns="71072" rtlCol="0" anchor="ctr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FFF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Перемикання: клинок ↔ спис (AoE)</a:t>
            </a:r>
            <a:endParaRPr lang="en-US" sz="1400" dirty="0"/>
          </a:p>
        </p:txBody>
      </p:sp>
      <p:pic>
        <p:nvPicPr>
          <p:cNvPr id="31" name="Image 5" descr="arrow-righ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223933" y="3813811"/>
            <a:ext cx="254000" cy="1270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560483" y="3547111"/>
            <a:ext cx="2518833" cy="660400"/>
          </a:xfrm>
          <a:prstGeom prst="roundRect">
            <a:avLst>
              <a:gd name="adj" fmla="val 12500"/>
            </a:avLst>
          </a:prstGeom>
          <a:solidFill>
            <a:srgbClr val="3A2F0B"/>
          </a:solidFill>
          <a:ln w="12700">
            <a:solidFill>
              <a:srgbClr val="FFC93C"/>
            </a:solidFill>
            <a:prstDash val="solid"/>
          </a:ln>
        </p:spPr>
        <p:txBody>
          <a:bodyPr wrap="square" lIns="96472" tIns="71072" rIns="28146" bIns="71072" rtlCol="0" anchor="ctr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F4D1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Оновлення іконки модуля в HUD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154384" y="3770630"/>
            <a:ext cx="62445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6B7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інакше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8854017" y="3547111"/>
            <a:ext cx="2518833" cy="660400"/>
          </a:xfrm>
          <a:prstGeom prst="roundRect">
            <a:avLst>
              <a:gd name="adj" fmla="val 12500"/>
            </a:avLst>
          </a:prstGeom>
          <a:solidFill>
            <a:srgbClr val="3A1218"/>
          </a:solidFill>
          <a:ln w="12700">
            <a:solidFill>
              <a:srgbClr val="FF6B7A"/>
            </a:solidFill>
            <a:prstDash val="solid"/>
          </a:ln>
        </p:spPr>
        <p:txBody>
          <a:bodyPr wrap="square" lIns="96472" tIns="71072" rIns="28146" bIns="71072" rtlCol="0" anchor="ctr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E3E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Дія заблокована при Stagger</a:t>
            </a:r>
            <a:endParaRPr lang="en-US" sz="1400" dirty="0"/>
          </a:p>
        </p:txBody>
      </p:sp>
      <p:sp>
        <p:nvSpPr>
          <p:cNvPr id="35" name="Shape 27"/>
          <p:cNvSpPr/>
          <p:nvPr/>
        </p:nvSpPr>
        <p:spPr>
          <a:xfrm>
            <a:off x="819150" y="4372611"/>
            <a:ext cx="10553700" cy="469900"/>
          </a:xfrm>
          <a:prstGeom prst="roundRect">
            <a:avLst>
              <a:gd name="adj" fmla="val 17568"/>
            </a:avLst>
          </a:prstGeom>
          <a:solidFill>
            <a:srgbClr val="3A1218"/>
          </a:solidFill>
          <a:ln w="12700">
            <a:solidFill>
              <a:srgbClr val="FF6B7A"/>
            </a:solidFill>
            <a:prstDash val="solid"/>
          </a:ln>
        </p:spPr>
      </p:sp>
      <p:pic>
        <p:nvPicPr>
          <p:cNvPr id="36" name="Image 6" descr="Warni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77900" y="4480561"/>
            <a:ext cx="254000" cy="2540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358900" y="4500245"/>
            <a:ext cx="7958455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FE3E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Stagger (оглушення):</a:t>
            </a:r>
            <a:r>
              <a:rPr lang="en-US" sz="1300" dirty="0">
                <a:solidFill>
                  <a:srgbClr val="FFE3E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будь-яка дія гравця заблокована, поки він не вийде зі стану.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812800" y="6238239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7A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Arena Action · Частина 1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7A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 / 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6EA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04 · АНАЛОГИ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64261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F2F4F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Порівняння з трьома аналогами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625600"/>
            <a:ext cx="1270000" cy="505460"/>
          </a:xfrm>
          <a:prstGeom prst="rect">
            <a:avLst/>
          </a:prstGeom>
          <a:solidFill>
            <a:srgbClr val="131A24"/>
          </a:solidFill>
          <a:ln/>
        </p:spPr>
        <p:txBody>
          <a:bodyPr wrap="square" lIns="88900" tIns="63500" rIns="88900" bIns="63500" rtlCol="0" anchor="ctr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Критерій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120900" y="1625600"/>
            <a:ext cx="2667000" cy="505460"/>
          </a:xfrm>
          <a:prstGeom prst="roundRect">
            <a:avLst>
              <a:gd name="adj" fmla="val 12563"/>
            </a:avLst>
          </a:prstGeom>
          <a:solidFill>
            <a:srgbClr val="6EA8FF"/>
          </a:solidFill>
          <a:ln/>
        </p:spPr>
      </p:sp>
      <p:sp>
        <p:nvSpPr>
          <p:cNvPr id="6" name="Text 4"/>
          <p:cNvSpPr/>
          <p:nvPr/>
        </p:nvSpPr>
        <p:spPr>
          <a:xfrm>
            <a:off x="2222500" y="1689100"/>
            <a:ext cx="2537714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400" b="1" dirty="0">
                <a:solidFill>
                  <a:srgbClr val="0E111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Мій проєкт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22500" y="1884680"/>
            <a:ext cx="2537714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0E111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Arena Action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26000" y="1625600"/>
            <a:ext cx="2159000" cy="505460"/>
          </a:xfrm>
          <a:prstGeom prst="roundRect">
            <a:avLst>
              <a:gd name="adj" fmla="val 12563"/>
            </a:avLst>
          </a:prstGeom>
          <a:solidFill>
            <a:srgbClr val="19212D"/>
          </a:solidFill>
          <a:ln/>
        </p:spPr>
      </p:sp>
      <p:sp>
        <p:nvSpPr>
          <p:cNvPr id="9" name="Text 7"/>
          <p:cNvSpPr/>
          <p:nvPr/>
        </p:nvSpPr>
        <p:spPr>
          <a:xfrm>
            <a:off x="4927600" y="1689100"/>
            <a:ext cx="2014474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400" b="1" dirty="0">
                <a:solidFill>
                  <a:srgbClr val="F2F4F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Hades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27600" y="1884680"/>
            <a:ext cx="2014474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2020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23100" y="1625600"/>
            <a:ext cx="2159000" cy="505460"/>
          </a:xfrm>
          <a:prstGeom prst="roundRect">
            <a:avLst>
              <a:gd name="adj" fmla="val 12563"/>
            </a:avLst>
          </a:prstGeom>
          <a:solidFill>
            <a:srgbClr val="19212D"/>
          </a:solidFill>
          <a:ln/>
        </p:spPr>
      </p:sp>
      <p:sp>
        <p:nvSpPr>
          <p:cNvPr id="12" name="Text 10"/>
          <p:cNvSpPr/>
          <p:nvPr/>
        </p:nvSpPr>
        <p:spPr>
          <a:xfrm>
            <a:off x="7124700" y="1689100"/>
            <a:ext cx="2014474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400" b="1" dirty="0">
                <a:solidFill>
                  <a:srgbClr val="F2F4F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Dead Cells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24700" y="1884680"/>
            <a:ext cx="2014474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2018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20200" y="1625600"/>
            <a:ext cx="2159000" cy="505460"/>
          </a:xfrm>
          <a:prstGeom prst="roundRect">
            <a:avLst>
              <a:gd name="adj" fmla="val 12563"/>
            </a:avLst>
          </a:prstGeom>
          <a:solidFill>
            <a:srgbClr val="19212D"/>
          </a:solidFill>
          <a:ln/>
        </p:spPr>
      </p:sp>
      <p:sp>
        <p:nvSpPr>
          <p:cNvPr id="15" name="Text 13"/>
          <p:cNvSpPr/>
          <p:nvPr/>
        </p:nvSpPr>
        <p:spPr>
          <a:xfrm>
            <a:off x="9321800" y="1689100"/>
            <a:ext cx="2014474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400" b="1" dirty="0">
                <a:solidFill>
                  <a:srgbClr val="F2F4F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Hyper Light Drifter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321800" y="1884680"/>
            <a:ext cx="2014474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2016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800" y="2169161"/>
            <a:ext cx="1270000" cy="508000"/>
          </a:xfrm>
          <a:prstGeom prst="roundRect">
            <a:avLst>
              <a:gd name="adj" fmla="val 12500"/>
            </a:avLst>
          </a:prstGeom>
          <a:solidFill>
            <a:srgbClr val="19212D"/>
          </a:solidFill>
          <a:ln/>
        </p:spPr>
        <p:txBody>
          <a:bodyPr wrap="square" lIns="70301" tIns="32201" rIns="19501" bIns="32201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2F4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Основна механіка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27250" y="2175511"/>
            <a:ext cx="2654300" cy="495300"/>
          </a:xfrm>
          <a:prstGeom prst="roundRect">
            <a:avLst>
              <a:gd name="adj" fmla="val 11538"/>
            </a:avLst>
          </a:prstGeom>
          <a:solidFill>
            <a:srgbClr val="14284A"/>
          </a:solidFill>
          <a:ln w="12700">
            <a:solidFill>
              <a:srgbClr val="6EA8FF"/>
            </a:solidFill>
            <a:prstDash val="solid"/>
          </a:ln>
        </p:spPr>
        <p:txBody>
          <a:bodyPr wrap="square" lIns="91211" tIns="53111" rIns="91211" bIns="53111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2F4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3-комбо з буфером 200 мс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26000" y="2169161"/>
            <a:ext cx="2159000" cy="508000"/>
          </a:xfrm>
          <a:prstGeom prst="roundRect">
            <a:avLst>
              <a:gd name="adj" fmla="val 12500"/>
            </a:avLst>
          </a:prstGeom>
          <a:solidFill>
            <a:srgbClr val="19212D"/>
          </a:solidFill>
          <a:ln/>
        </p:spPr>
        <p:txBody>
          <a:bodyPr wrap="square" lIns="83001" tIns="44901" rIns="83001" bIns="44901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Серії ударів і спец-атак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23100" y="2169161"/>
            <a:ext cx="2159000" cy="508000"/>
          </a:xfrm>
          <a:prstGeom prst="roundRect">
            <a:avLst>
              <a:gd name="adj" fmla="val 12500"/>
            </a:avLst>
          </a:prstGeom>
          <a:solidFill>
            <a:srgbClr val="19212D"/>
          </a:solidFill>
          <a:ln/>
        </p:spPr>
        <p:txBody>
          <a:bodyPr wrap="square" lIns="83001" tIns="32201" rIns="24327" bIns="32201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Швидкі комбо з буферизацією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220200" y="2169161"/>
            <a:ext cx="2159000" cy="508000"/>
          </a:xfrm>
          <a:prstGeom prst="roundRect">
            <a:avLst>
              <a:gd name="adj" fmla="val 12500"/>
            </a:avLst>
          </a:prstGeom>
          <a:solidFill>
            <a:srgbClr val="19212D"/>
          </a:solidFill>
          <a:ln/>
        </p:spPr>
        <p:txBody>
          <a:bodyPr wrap="square" lIns="83001" tIns="44901" rIns="83001" bIns="44901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Меч + постріли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2715261"/>
            <a:ext cx="1270000" cy="533400"/>
          </a:xfrm>
          <a:prstGeom prst="roundRect">
            <a:avLst>
              <a:gd name="adj" fmla="val 11905"/>
            </a:avLst>
          </a:prstGeom>
          <a:solidFill>
            <a:srgbClr val="19212D"/>
          </a:solidFill>
          <a:ln/>
        </p:spPr>
        <p:txBody>
          <a:bodyPr wrap="square" lIns="70301" tIns="44901" rIns="70301" bIns="44901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2F4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Ухилення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27250" y="2721611"/>
            <a:ext cx="2654300" cy="520700"/>
          </a:xfrm>
          <a:prstGeom prst="roundRect">
            <a:avLst>
              <a:gd name="adj" fmla="val 10976"/>
            </a:avLst>
          </a:prstGeom>
          <a:solidFill>
            <a:srgbClr val="14284A"/>
          </a:solidFill>
          <a:ln w="12700">
            <a:solidFill>
              <a:srgbClr val="6EA8FF"/>
            </a:solidFill>
            <a:prstDash val="solid"/>
          </a:ln>
        </p:spPr>
        <p:txBody>
          <a:bodyPr wrap="square" lIns="91211" tIns="40411" rIns="18059" bIns="40411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2F4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Dash 0.2 с i-frames + dash-cancel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26000" y="2715261"/>
            <a:ext cx="2159000" cy="533400"/>
          </a:xfrm>
          <a:prstGeom prst="roundRect">
            <a:avLst>
              <a:gd name="adj" fmla="val 11905"/>
            </a:avLst>
          </a:prstGeom>
          <a:solidFill>
            <a:srgbClr val="19212D"/>
          </a:solidFill>
          <a:ln/>
        </p:spPr>
        <p:txBody>
          <a:bodyPr wrap="square" lIns="83001" tIns="44901" rIns="83001" bIns="44901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Ривок в русі з i-frames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23100" y="2715261"/>
            <a:ext cx="2159000" cy="533400"/>
          </a:xfrm>
          <a:prstGeom prst="roundRect">
            <a:avLst>
              <a:gd name="adj" fmla="val 11905"/>
            </a:avLst>
          </a:prstGeom>
          <a:solidFill>
            <a:srgbClr val="19212D"/>
          </a:solidFill>
          <a:ln/>
        </p:spPr>
        <p:txBody>
          <a:bodyPr wrap="square" lIns="83001" tIns="44901" rIns="24327" bIns="44901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Перекат із перериванням атак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20200" y="2715261"/>
            <a:ext cx="2159000" cy="533400"/>
          </a:xfrm>
          <a:prstGeom prst="roundRect">
            <a:avLst>
              <a:gd name="adj" fmla="val 11905"/>
            </a:avLst>
          </a:prstGeom>
          <a:solidFill>
            <a:srgbClr val="19212D"/>
          </a:solidFill>
          <a:ln/>
        </p:spPr>
        <p:txBody>
          <a:bodyPr wrap="square" lIns="83001" tIns="44901" rIns="83001" bIns="44901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Серійний ривок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2800" y="3286761"/>
            <a:ext cx="1270000" cy="533400"/>
          </a:xfrm>
          <a:prstGeom prst="roundRect">
            <a:avLst>
              <a:gd name="adj" fmla="val 11905"/>
            </a:avLst>
          </a:prstGeom>
          <a:solidFill>
            <a:srgbClr val="19212D"/>
          </a:solidFill>
          <a:ln/>
        </p:spPr>
        <p:txBody>
          <a:bodyPr wrap="square" lIns="70301" tIns="44901" rIns="19501" bIns="44901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2F4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Модифікація зброї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127250" y="3293111"/>
            <a:ext cx="2654300" cy="520700"/>
          </a:xfrm>
          <a:prstGeom prst="roundRect">
            <a:avLst>
              <a:gd name="adj" fmla="val 10976"/>
            </a:avLst>
          </a:prstGeom>
          <a:solidFill>
            <a:srgbClr val="14284A"/>
          </a:solidFill>
          <a:ln w="12700">
            <a:solidFill>
              <a:srgbClr val="6EA8FF"/>
            </a:solidFill>
            <a:prstDash val="solid"/>
          </a:ln>
        </p:spPr>
        <p:txBody>
          <a:bodyPr wrap="square" lIns="91211" tIns="40411" rIns="18059" bIns="40411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2F4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Миттєва зміна модулів на Q в бою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26000" y="3286761"/>
            <a:ext cx="2159000" cy="533400"/>
          </a:xfrm>
          <a:prstGeom prst="roundRect">
            <a:avLst>
              <a:gd name="adj" fmla="val 11905"/>
            </a:avLst>
          </a:prstGeom>
          <a:solidFill>
            <a:srgbClr val="19212D"/>
          </a:solidFill>
          <a:ln/>
        </p:spPr>
        <p:txBody>
          <a:bodyPr wrap="square" lIns="83001" tIns="44901" rIns="83001" bIns="44901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Дари між кімнатами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23100" y="3286761"/>
            <a:ext cx="2159000" cy="533400"/>
          </a:xfrm>
          <a:prstGeom prst="roundRect">
            <a:avLst>
              <a:gd name="adj" fmla="val 11905"/>
            </a:avLst>
          </a:prstGeom>
          <a:solidFill>
            <a:srgbClr val="19212D"/>
          </a:solidFill>
          <a:ln/>
        </p:spPr>
        <p:txBody>
          <a:bodyPr wrap="square" lIns="83001" tIns="44901" rIns="83001" bIns="44901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Слоти та афікси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220200" y="3286761"/>
            <a:ext cx="2159000" cy="533400"/>
          </a:xfrm>
          <a:prstGeom prst="roundRect">
            <a:avLst>
              <a:gd name="adj" fmla="val 11905"/>
            </a:avLst>
          </a:prstGeom>
          <a:solidFill>
            <a:srgbClr val="19212D"/>
          </a:solidFill>
          <a:ln/>
        </p:spPr>
        <p:txBody>
          <a:bodyPr wrap="square" lIns="83001" tIns="44901" rIns="83001" bIns="44901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Апгрейди на базі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12800" y="3858261"/>
            <a:ext cx="1270000" cy="533400"/>
          </a:xfrm>
          <a:prstGeom prst="roundRect">
            <a:avLst>
              <a:gd name="adj" fmla="val 11905"/>
            </a:avLst>
          </a:prstGeom>
          <a:solidFill>
            <a:srgbClr val="19212D"/>
          </a:solidFill>
          <a:ln/>
        </p:spPr>
        <p:txBody>
          <a:bodyPr wrap="square" lIns="70301" tIns="44901" rIns="19501" bIns="44901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2F4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Зворотний зв'язок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127250" y="3864611"/>
            <a:ext cx="2654300" cy="520700"/>
          </a:xfrm>
          <a:prstGeom prst="roundRect">
            <a:avLst>
              <a:gd name="adj" fmla="val 10976"/>
            </a:avLst>
          </a:prstGeom>
          <a:solidFill>
            <a:srgbClr val="14284A"/>
          </a:solidFill>
          <a:ln w="12700">
            <a:solidFill>
              <a:srgbClr val="6EA8FF"/>
            </a:solidFill>
            <a:prstDash val="solid"/>
          </a:ln>
        </p:spPr>
        <p:txBody>
          <a:bodyPr wrap="square" lIns="91211" tIns="40411" rIns="18059" bIns="40411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2F4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Hit-flash 0.1 с, hit-stop, контури зон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26000" y="3858261"/>
            <a:ext cx="2159000" cy="533400"/>
          </a:xfrm>
          <a:prstGeom prst="roundRect">
            <a:avLst>
              <a:gd name="adj" fmla="val 11905"/>
            </a:avLst>
          </a:prstGeom>
          <a:solidFill>
            <a:srgbClr val="19212D"/>
          </a:solidFill>
          <a:ln/>
        </p:spPr>
        <p:txBody>
          <a:bodyPr wrap="square" lIns="83001" tIns="44901" rIns="83001" bIns="44901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Яскраві VFX і hit-stop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23100" y="3858261"/>
            <a:ext cx="2159000" cy="533400"/>
          </a:xfrm>
          <a:prstGeom prst="roundRect">
            <a:avLst>
              <a:gd name="adj" fmla="val 11905"/>
            </a:avLst>
          </a:prstGeom>
          <a:solidFill>
            <a:srgbClr val="19212D"/>
          </a:solidFill>
          <a:ln/>
        </p:spPr>
        <p:txBody>
          <a:bodyPr wrap="square" lIns="83001" tIns="44901" rIns="24327" bIns="44901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Завмирання кадру й крит-цифри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220200" y="3858261"/>
            <a:ext cx="2159000" cy="533400"/>
          </a:xfrm>
          <a:prstGeom prst="roundRect">
            <a:avLst>
              <a:gd name="adj" fmla="val 11905"/>
            </a:avLst>
          </a:prstGeom>
          <a:solidFill>
            <a:srgbClr val="19212D"/>
          </a:solidFill>
          <a:ln/>
        </p:spPr>
        <p:txBody>
          <a:bodyPr wrap="square" lIns="83001" tIns="44901" rIns="24327" bIns="44901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Піксельний спалах і віддача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12800" y="4429761"/>
            <a:ext cx="1270000" cy="342900"/>
          </a:xfrm>
          <a:prstGeom prst="roundRect">
            <a:avLst>
              <a:gd name="adj" fmla="val 18519"/>
            </a:avLst>
          </a:prstGeom>
          <a:solidFill>
            <a:srgbClr val="19212D"/>
          </a:solidFill>
          <a:ln/>
        </p:spPr>
        <p:txBody>
          <a:bodyPr wrap="square" lIns="70301" tIns="44901" rIns="70301" bIns="44901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2F4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Простір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127250" y="4436111"/>
            <a:ext cx="2654300" cy="330200"/>
          </a:xfrm>
          <a:prstGeom prst="roundRect">
            <a:avLst>
              <a:gd name="adj" fmla="val 17308"/>
            </a:avLst>
          </a:prstGeom>
          <a:solidFill>
            <a:srgbClr val="14284A"/>
          </a:solidFill>
          <a:ln w="12700">
            <a:solidFill>
              <a:srgbClr val="6EA8FF"/>
            </a:solidFill>
            <a:prstDash val="solid"/>
          </a:ln>
        </p:spPr>
        <p:txBody>
          <a:bodyPr wrap="square" lIns="91211" tIns="40411" rIns="91211" bIns="40411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2F4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Компактна арена з 4 колонами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26000" y="4429761"/>
            <a:ext cx="2159000" cy="342900"/>
          </a:xfrm>
          <a:prstGeom prst="roundRect">
            <a:avLst>
              <a:gd name="adj" fmla="val 18519"/>
            </a:avLst>
          </a:prstGeom>
          <a:solidFill>
            <a:srgbClr val="19212D"/>
          </a:solidFill>
          <a:ln/>
        </p:spPr>
        <p:txBody>
          <a:bodyPr wrap="square" lIns="83001" tIns="44901" rIns="83001" bIns="44901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Ізометричні кімнати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023100" y="4429761"/>
            <a:ext cx="2159000" cy="342900"/>
          </a:xfrm>
          <a:prstGeom prst="roundRect">
            <a:avLst>
              <a:gd name="adj" fmla="val 18519"/>
            </a:avLst>
          </a:prstGeom>
          <a:solidFill>
            <a:srgbClr val="19212D"/>
          </a:solidFill>
          <a:ln/>
        </p:spPr>
        <p:txBody>
          <a:bodyPr wrap="square" lIns="83001" tIns="44901" rIns="83001" bIns="44901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2D-біоми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220200" y="4429761"/>
            <a:ext cx="2159000" cy="342900"/>
          </a:xfrm>
          <a:prstGeom prst="roundRect">
            <a:avLst>
              <a:gd name="adj" fmla="val 18519"/>
            </a:avLst>
          </a:prstGeom>
          <a:solidFill>
            <a:srgbClr val="19212D"/>
          </a:solidFill>
          <a:ln/>
        </p:spPr>
        <p:txBody>
          <a:bodyPr wrap="square" lIns="83001" tIns="44901" rIns="69021" bIns="44901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Відкриті арени-лабіринти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19150" y="4931411"/>
            <a:ext cx="5194300" cy="645160"/>
          </a:xfrm>
          <a:prstGeom prst="roundRect">
            <a:avLst>
              <a:gd name="adj" fmla="val 12795"/>
            </a:avLst>
          </a:prstGeom>
          <a:solidFill>
            <a:srgbClr val="0F2E22"/>
          </a:solidFill>
          <a:ln w="12700">
            <a:solidFill>
              <a:srgbClr val="3DDC97"/>
            </a:solidFill>
            <a:prstDash val="solid"/>
          </a:ln>
        </p:spPr>
        <p:txBody>
          <a:bodyPr wrap="square" lIns="134572" tIns="83772" rIns="0" bIns="58372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E6FFF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Беремо:</a:t>
            </a:r>
            <a:r>
              <a:rPr lang="en-US" sz="1300" dirty="0">
                <a:solidFill>
                  <a:srgbClr val="E6FFF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чуйність керування (input buffer + dash-cancel) із Dead Cells та Hades.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178550" y="4931411"/>
            <a:ext cx="5194300" cy="645160"/>
          </a:xfrm>
          <a:prstGeom prst="roundRect">
            <a:avLst>
              <a:gd name="adj" fmla="val 12795"/>
            </a:avLst>
          </a:prstGeom>
          <a:solidFill>
            <a:srgbClr val="14284A"/>
          </a:solidFill>
          <a:ln w="12700">
            <a:solidFill>
              <a:srgbClr val="6EA8FF"/>
            </a:solidFill>
            <a:prstDash val="solid"/>
          </a:ln>
        </p:spPr>
        <p:txBody>
          <a:bodyPr wrap="square" lIns="134572" tIns="83772" rIns="0" bIns="58372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2F4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Відрізняємося:</a:t>
            </a:r>
            <a:r>
              <a:rPr lang="en-US" sz="1300" dirty="0">
                <a:solidFill>
                  <a:srgbClr val="F2F4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миттєва зміна модулів (швидкість vs AoE-радіус) однією клавішею в розпалі бою.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12800" y="6238239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7A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Arena Action · Частина 1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7A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 / 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6EA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05 · ЛОГІКА І СТАНИ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64261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F2F4F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Псевдокод і діаграма станів (FSM)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628775"/>
            <a:ext cx="4946650" cy="3374390"/>
          </a:xfrm>
          <a:prstGeom prst="roundRect">
            <a:avLst>
              <a:gd name="adj" fmla="val 2917"/>
            </a:avLst>
          </a:prstGeom>
          <a:solidFill>
            <a:srgbClr val="0A0E13"/>
          </a:solidFill>
          <a:ln w="6350">
            <a:solidFill>
              <a:srgbClr val="2F3B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1784350"/>
            <a:ext cx="472224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7A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Псевдокод · ігровий цикл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6950" y="2073911"/>
            <a:ext cx="4722241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A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</a:t>
            </a:r>
            <a:r>
              <a:rPr lang="en-US" sz="1200" dirty="0">
                <a:solidFill>
                  <a:srgbClr val="E3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(player.isAlive) {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1100" y="2287271"/>
            <a:ext cx="4532567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A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200" dirty="0">
                <a:solidFill>
                  <a:srgbClr val="E3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(player.stagger) </a:t>
            </a:r>
            <a:r>
              <a:rPr lang="en-US" sz="1200" dirty="0">
                <a:solidFill>
                  <a:srgbClr val="6EA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continue</a:t>
            </a:r>
            <a:r>
              <a:rPr lang="en-US" sz="1200" dirty="0">
                <a:solidFill>
                  <a:srgbClr val="E3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1100" y="2500629"/>
            <a:ext cx="4532567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7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1) Dash — найвищий пріоритет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1100" y="2713989"/>
            <a:ext cx="4532567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A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200" dirty="0">
                <a:solidFill>
                  <a:srgbClr val="E3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(Space &amp;&amp; dashCD &lt;= </a:t>
            </a:r>
            <a:r>
              <a:rPr lang="en-US" sz="1200" dirty="0">
                <a:solidFill>
                  <a:srgbClr val="FFC93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</a:t>
            </a:r>
            <a:r>
              <a:rPr lang="en-US" sz="1200" dirty="0">
                <a:solidFill>
                  <a:srgbClr val="E3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 {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65250" y="2927350"/>
            <a:ext cx="4342892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3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CancelAttack();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65250" y="3140711"/>
            <a:ext cx="4342892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3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Dash(iFrames: </a:t>
            </a:r>
            <a:r>
              <a:rPr lang="en-US" sz="1200" dirty="0">
                <a:solidFill>
                  <a:srgbClr val="FFC93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0.2s</a:t>
            </a:r>
            <a:r>
              <a:rPr lang="en-US" sz="1200" dirty="0">
                <a:solidFill>
                  <a:srgbClr val="E3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 dashCD = </a:t>
            </a:r>
            <a:r>
              <a:rPr lang="en-US" sz="1200" dirty="0">
                <a:solidFill>
                  <a:srgbClr val="FFC93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0.8s</a:t>
            </a:r>
            <a:r>
              <a:rPr lang="en-US" sz="1200" dirty="0">
                <a:solidFill>
                  <a:srgbClr val="E3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1100" y="3354071"/>
            <a:ext cx="4532567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3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 </a:t>
            </a:r>
            <a:r>
              <a:rPr lang="en-US" sz="1200" dirty="0">
                <a:solidFill>
                  <a:srgbClr val="6EA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if</a:t>
            </a:r>
            <a:r>
              <a:rPr lang="en-US" sz="1200" dirty="0">
                <a:solidFill>
                  <a:srgbClr val="E3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(Attack || buffer.has(</a:t>
            </a:r>
            <a:r>
              <a:rPr lang="en-US" sz="1200" dirty="0">
                <a:solidFill>
                  <a:srgbClr val="FFC93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200ms</a:t>
            </a:r>
            <a:r>
              <a:rPr lang="en-US" sz="1200" dirty="0">
                <a:solidFill>
                  <a:srgbClr val="E3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)) {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65250" y="3567429"/>
            <a:ext cx="4342892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3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hit = CalcHitbox(module, comboStep);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65250" y="3780789"/>
            <a:ext cx="4342892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A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200" dirty="0">
                <a:solidFill>
                  <a:srgbClr val="E3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(hit) HitStop(</a:t>
            </a:r>
            <a:r>
              <a:rPr lang="en-US" sz="1200" dirty="0">
                <a:solidFill>
                  <a:srgbClr val="FFC93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0.1s</a:t>
            </a:r>
            <a:r>
              <a:rPr lang="en-US" sz="1200" dirty="0">
                <a:solidFill>
                  <a:srgbClr val="E3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65250" y="3994150"/>
            <a:ext cx="4342892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3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comboStep = comboStep % </a:t>
            </a:r>
            <a:r>
              <a:rPr lang="en-US" sz="1200" dirty="0">
                <a:solidFill>
                  <a:srgbClr val="FFC93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r>
              <a:rPr lang="en-US" sz="1200" dirty="0">
                <a:solidFill>
                  <a:srgbClr val="E3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+ </a:t>
            </a:r>
            <a:r>
              <a:rPr lang="en-US" sz="1200" dirty="0">
                <a:solidFill>
                  <a:srgbClr val="FFC93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r>
              <a:rPr lang="en-US" sz="1200" dirty="0">
                <a:solidFill>
                  <a:srgbClr val="E3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1100" y="4207511"/>
            <a:ext cx="4532567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3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1100" y="4420871"/>
            <a:ext cx="4532567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EA8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200" dirty="0">
                <a:solidFill>
                  <a:srgbClr val="E3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(Q) SwapModule(); </a:t>
            </a:r>
            <a:r>
              <a:rPr lang="en-US" sz="1200" dirty="0">
                <a:solidFill>
                  <a:srgbClr val="8B97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клинок / спис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96950" y="4634229"/>
            <a:ext cx="4722241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3E8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24550" y="1631950"/>
            <a:ext cx="1384300" cy="571500"/>
          </a:xfrm>
          <a:prstGeom prst="roundRect">
            <a:avLst>
              <a:gd name="adj" fmla="val 14444"/>
            </a:avLst>
          </a:prstGeom>
          <a:solidFill>
            <a:srgbClr val="0F2E22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07100" y="1708150"/>
            <a:ext cx="1270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E6FFF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Idle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07100" y="1944371"/>
            <a:ext cx="1270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A8EBC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спокій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337550" y="1631950"/>
            <a:ext cx="1384300" cy="571500"/>
          </a:xfrm>
          <a:prstGeom prst="roundRect">
            <a:avLst>
              <a:gd name="adj" fmla="val 14444"/>
            </a:avLst>
          </a:prstGeom>
          <a:solidFill>
            <a:srgbClr val="0F2E22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20100" y="1708150"/>
            <a:ext cx="1270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E6FFF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Move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20100" y="1944371"/>
            <a:ext cx="1270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A8EBC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рух (WASD)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24550" y="2901950"/>
            <a:ext cx="1384300" cy="571500"/>
          </a:xfrm>
          <a:prstGeom prst="roundRect">
            <a:avLst>
              <a:gd name="adj" fmla="val 14444"/>
            </a:avLst>
          </a:prstGeom>
          <a:solidFill>
            <a:srgbClr val="0F2E22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07100" y="2978150"/>
            <a:ext cx="1270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E6FFF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Attack 1–3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07100" y="3214371"/>
            <a:ext cx="1270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A8EBC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буфер 200 мс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337550" y="2901950"/>
            <a:ext cx="1384300" cy="571500"/>
          </a:xfrm>
          <a:prstGeom prst="roundRect">
            <a:avLst>
              <a:gd name="adj" fmla="val 14444"/>
            </a:avLst>
          </a:prstGeom>
          <a:solidFill>
            <a:srgbClr val="0F2E22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20100" y="2978150"/>
            <a:ext cx="1270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E6FFF3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Dash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20100" y="3214371"/>
            <a:ext cx="1270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A8EBC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i-frames 0.2 с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24550" y="4171950"/>
            <a:ext cx="1384300" cy="571500"/>
          </a:xfrm>
          <a:prstGeom prst="roundRect">
            <a:avLst>
              <a:gd name="adj" fmla="val 14444"/>
            </a:avLst>
          </a:prstGeom>
          <a:solidFill>
            <a:srgbClr val="3A2F0B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07100" y="4248150"/>
            <a:ext cx="1270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FFF4D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HitConfirm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007100" y="4484371"/>
            <a:ext cx="1270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FFE08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пауза 0.1 с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988550" y="2901950"/>
            <a:ext cx="1384300" cy="571500"/>
          </a:xfrm>
          <a:prstGeom prst="roundRect">
            <a:avLst>
              <a:gd name="adj" fmla="val 14444"/>
            </a:avLst>
          </a:prstGeom>
          <a:solidFill>
            <a:srgbClr val="3A1218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71100" y="2978150"/>
            <a:ext cx="1270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FFE3E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Stagger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071100" y="3214371"/>
            <a:ext cx="1270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FFB3B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оглушення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988550" y="4171950"/>
            <a:ext cx="1384300" cy="571500"/>
          </a:xfrm>
          <a:prstGeom prst="roundRect">
            <a:avLst>
              <a:gd name="adj" fmla="val 14444"/>
            </a:avLst>
          </a:prstGeom>
          <a:solidFill>
            <a:srgbClr val="3A1218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71100" y="4248150"/>
            <a:ext cx="12700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FFE3E6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Dead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071100" y="4484371"/>
            <a:ext cx="1270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FFB3B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HP ≤ 0</a:t>
            </a:r>
            <a:endParaRPr lang="en-US" sz="1200" dirty="0"/>
          </a:p>
        </p:txBody>
      </p:sp>
      <p:pic>
        <p:nvPicPr>
          <p:cNvPr id="40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64400" y="1866900"/>
            <a:ext cx="1117600" cy="101600"/>
          </a:xfrm>
          <a:prstGeom prst="rect">
            <a:avLst/>
          </a:prstGeom>
        </p:spPr>
      </p:pic>
      <p:pic>
        <p:nvPicPr>
          <p:cNvPr id="41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65900" y="2159000"/>
            <a:ext cx="101600" cy="787400"/>
          </a:xfrm>
          <a:prstGeom prst="rect">
            <a:avLst/>
          </a:prstGeom>
        </p:spPr>
      </p:pic>
      <p:pic>
        <p:nvPicPr>
          <p:cNvPr id="42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264400" y="3136900"/>
            <a:ext cx="1117600" cy="101600"/>
          </a:xfrm>
          <a:prstGeom prst="rect">
            <a:avLst/>
          </a:prstGeom>
        </p:spPr>
      </p:pic>
      <p:pic>
        <p:nvPicPr>
          <p:cNvPr id="43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677400" y="1866900"/>
            <a:ext cx="1054100" cy="1079500"/>
          </a:xfrm>
          <a:prstGeom prst="rect">
            <a:avLst/>
          </a:prstGeom>
        </p:spPr>
      </p:pic>
      <p:pic>
        <p:nvPicPr>
          <p:cNvPr id="44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629900" y="3429000"/>
            <a:ext cx="101600" cy="787400"/>
          </a:xfrm>
          <a:prstGeom prst="rect">
            <a:avLst/>
          </a:prstGeom>
        </p:spPr>
      </p:pic>
      <p:pic>
        <p:nvPicPr>
          <p:cNvPr id="45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565900" y="3429000"/>
            <a:ext cx="101600" cy="78740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6692900" y="2451100"/>
            <a:ext cx="9398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ЛКМ / J</a:t>
            </a:r>
            <a:endParaRPr lang="en-US" sz="1200" dirty="0"/>
          </a:p>
        </p:txBody>
      </p:sp>
      <p:sp>
        <p:nvSpPr>
          <p:cNvPr id="47" name="Text 39"/>
          <p:cNvSpPr/>
          <p:nvPr/>
        </p:nvSpPr>
        <p:spPr>
          <a:xfrm>
            <a:off x="7340600" y="2921000"/>
            <a:ext cx="1016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dash-cancel</a:t>
            </a:r>
            <a:endParaRPr lang="en-US" sz="1200" dirty="0"/>
          </a:p>
        </p:txBody>
      </p:sp>
      <p:sp>
        <p:nvSpPr>
          <p:cNvPr id="48" name="Text 40"/>
          <p:cNvSpPr/>
          <p:nvPr/>
        </p:nvSpPr>
        <p:spPr>
          <a:xfrm>
            <a:off x="9779000" y="1663700"/>
            <a:ext cx="13208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отримує шкоду</a:t>
            </a:r>
            <a:endParaRPr lang="en-US" sz="1200" dirty="0"/>
          </a:p>
        </p:txBody>
      </p:sp>
      <p:sp>
        <p:nvSpPr>
          <p:cNvPr id="49" name="Text 41"/>
          <p:cNvSpPr/>
          <p:nvPr/>
        </p:nvSpPr>
        <p:spPr>
          <a:xfrm>
            <a:off x="10756900" y="3733800"/>
            <a:ext cx="6604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HP ≤ 0</a:t>
            </a:r>
            <a:endParaRPr lang="en-US" sz="1200" dirty="0"/>
          </a:p>
        </p:txBody>
      </p:sp>
      <p:sp>
        <p:nvSpPr>
          <p:cNvPr id="50" name="Text 42"/>
          <p:cNvSpPr/>
          <p:nvPr/>
        </p:nvSpPr>
        <p:spPr>
          <a:xfrm>
            <a:off x="6692900" y="3733800"/>
            <a:ext cx="13208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колізія</a:t>
            </a:r>
            <a:endParaRPr lang="en-US" sz="1200" dirty="0"/>
          </a:p>
        </p:txBody>
      </p:sp>
      <p:sp>
        <p:nvSpPr>
          <p:cNvPr id="51" name="Text 43"/>
          <p:cNvSpPr/>
          <p:nvPr/>
        </p:nvSpPr>
        <p:spPr>
          <a:xfrm>
            <a:off x="819150" y="5213350"/>
            <a:ext cx="1756092" cy="327660"/>
          </a:xfrm>
          <a:prstGeom prst="roundRect">
            <a:avLst>
              <a:gd name="adj" fmla="val 50000"/>
            </a:avLst>
          </a:prstGeom>
          <a:solidFill>
            <a:srgbClr val="0F2E22"/>
          </a:solidFill>
          <a:ln w="12700">
            <a:solidFill>
              <a:srgbClr val="3DDC97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FFF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Зелений · Механіка</a:t>
            </a:r>
            <a:endParaRPr lang="en-US" sz="1200" dirty="0"/>
          </a:p>
        </p:txBody>
      </p:sp>
      <p:sp>
        <p:nvSpPr>
          <p:cNvPr id="52" name="Text 44"/>
          <p:cNvSpPr/>
          <p:nvPr/>
        </p:nvSpPr>
        <p:spPr>
          <a:xfrm>
            <a:off x="2689542" y="5213350"/>
            <a:ext cx="1556597" cy="327660"/>
          </a:xfrm>
          <a:prstGeom prst="roundRect">
            <a:avLst>
              <a:gd name="adj" fmla="val 50000"/>
            </a:avLst>
          </a:prstGeom>
          <a:solidFill>
            <a:srgbClr val="3A2F0B"/>
          </a:solidFill>
          <a:ln w="12700">
            <a:solidFill>
              <a:srgbClr val="FFC93C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4D1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Жовтий · Фідбек</a:t>
            </a:r>
            <a:endParaRPr lang="en-US" sz="1200" dirty="0"/>
          </a:p>
        </p:txBody>
      </p:sp>
      <p:sp>
        <p:nvSpPr>
          <p:cNvPr id="53" name="Text 45"/>
          <p:cNvSpPr/>
          <p:nvPr/>
        </p:nvSpPr>
        <p:spPr>
          <a:xfrm>
            <a:off x="4360439" y="5213350"/>
            <a:ext cx="1774190" cy="327660"/>
          </a:xfrm>
          <a:prstGeom prst="roundRect">
            <a:avLst>
              <a:gd name="adj" fmla="val 50000"/>
            </a:avLst>
          </a:prstGeom>
          <a:solidFill>
            <a:srgbClr val="3A1218"/>
          </a:solidFill>
          <a:ln w="12700">
            <a:solidFill>
              <a:srgbClr val="FF6B7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E3E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Червоний · Відмова</a:t>
            </a:r>
            <a:endParaRPr lang="en-US" sz="1200" dirty="0"/>
          </a:p>
        </p:txBody>
      </p:sp>
      <p:sp>
        <p:nvSpPr>
          <p:cNvPr id="54" name="Text 46"/>
          <p:cNvSpPr/>
          <p:nvPr/>
        </p:nvSpPr>
        <p:spPr>
          <a:xfrm>
            <a:off x="812800" y="6238239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7A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Arena Action · Частина 1</a:t>
            </a:r>
            <a:endParaRPr lang="en-US" sz="1200" dirty="0"/>
          </a:p>
        </p:txBody>
      </p:sp>
      <p:sp>
        <p:nvSpPr>
          <p:cNvPr id="55" name="Text 47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7A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5 / 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6EA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06 · ПРОТОТИП І ТЕСТ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64261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F2F4F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Обраний прототип, ескізи та швидкий тест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628775"/>
            <a:ext cx="3409950" cy="2609850"/>
          </a:xfrm>
          <a:prstGeom prst="roundRect">
            <a:avLst>
              <a:gd name="adj" fmla="val 3771"/>
            </a:avLst>
          </a:prstGeom>
          <a:solidFill>
            <a:srgbClr val="19212D"/>
          </a:solidFill>
          <a:ln w="6350">
            <a:solidFill>
              <a:srgbClr val="2F3B4D"/>
            </a:solidFill>
            <a:prstDash val="solid"/>
          </a:ln>
        </p:spPr>
      </p:sp>
      <p:pic>
        <p:nvPicPr>
          <p:cNvPr id="5" name="Image 0" descr="Ескіз 1: відкрита кругла арена без перешкод, вороги кружляють навколо гравця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8850" y="1771650"/>
            <a:ext cx="3136900" cy="152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8850" y="3397250"/>
            <a:ext cx="199859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4F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Відкрита кругла арена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074564" y="3365500"/>
            <a:ext cx="1002136" cy="276860"/>
          </a:xfrm>
          <a:custGeom>
            <a:avLst/>
            <a:gdLst/>
            <a:ahLst/>
            <a:cxnLst/>
            <a:rect l="l" t="t" r="r" b="b"/>
            <a:pathLst>
              <a:path w="1002136" h="276860">
                <a:moveTo>
                  <a:pt x="120650" y="0"/>
                </a:moveTo>
                <a:lnTo>
                  <a:pt x="881486" y="0"/>
                </a:lnTo>
                <a:arcTo hR="120650" wR="120650" stAng="16200000" swAng="5400000"/>
                <a:lnTo>
                  <a:pt x="1002136" y="156210"/>
                </a:lnTo>
                <a:arcTo hR="120650" wR="120650" stAng="0" swAng="5400000"/>
                <a:lnTo>
                  <a:pt x="120650" y="276860"/>
                </a:lnTo>
                <a:arcTo hR="120650" wR="120650" stAng="5400000" swAng="5400000"/>
                <a:lnTo>
                  <a:pt x="0" y="120650"/>
                </a:lnTo>
                <a:arcTo hR="120650" wR="120650" stAng="10800000" swAng="5400000"/>
                <a:close/>
              </a:path>
            </a:pathLst>
          </a:custGeom>
          <a:solidFill>
            <a:srgbClr val="3A1218"/>
          </a:solidFill>
          <a:ln w="12700">
            <a:solidFill>
              <a:srgbClr val="FF6B7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E3E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Відхилено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58850" y="3712211"/>
            <a:ext cx="3217926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Одноманітний кайтинг по колу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91025" y="1635125"/>
            <a:ext cx="3409950" cy="2597150"/>
          </a:xfrm>
          <a:prstGeom prst="roundRect">
            <a:avLst>
              <a:gd name="adj" fmla="val 3545"/>
            </a:avLst>
          </a:prstGeom>
          <a:solidFill>
            <a:srgbClr val="0F2E22"/>
          </a:solidFill>
          <a:ln w="19050">
            <a:solidFill>
              <a:srgbClr val="3DDC97"/>
            </a:solidFill>
            <a:prstDash val="solid"/>
          </a:ln>
        </p:spPr>
      </p:sp>
      <p:pic>
        <p:nvPicPr>
          <p:cNvPr id="10" name="Image 1" descr="Ескіз 2: арена з чотирма колонами, що розбивають натовп ворогів і дають укриття для ривка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33900" y="1778000"/>
            <a:ext cx="3136900" cy="1524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33900" y="3390900"/>
            <a:ext cx="174078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4F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Арена з 4 колонами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820005" y="3365500"/>
            <a:ext cx="838094" cy="264160"/>
          </a:xfrm>
          <a:custGeom>
            <a:avLst/>
            <a:gdLst/>
            <a:ahLst/>
            <a:cxnLst/>
            <a:rect l="l" t="t" r="r" b="b"/>
            <a:pathLst>
              <a:path w="838094" h="264160">
                <a:moveTo>
                  <a:pt x="127000" y="0"/>
                </a:moveTo>
                <a:lnTo>
                  <a:pt x="711094" y="0"/>
                </a:lnTo>
                <a:arcTo hR="127000" wR="127000" stAng="16200000" swAng="5400000"/>
                <a:lnTo>
                  <a:pt x="838094" y="137160"/>
                </a:lnTo>
                <a:arcTo hR="127000" wR="127000" stAng="0" swAng="5400000"/>
                <a:lnTo>
                  <a:pt x="127000" y="264160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close/>
              </a:path>
            </a:pathLst>
          </a:custGeom>
          <a:solidFill>
            <a:srgbClr val="3DDC9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111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ОБРАНО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33900" y="3693161"/>
            <a:ext cx="3217926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FFF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Колони розбивають натовп під AoE-модуль і дають укриття для ривка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966075" y="1628775"/>
            <a:ext cx="3409950" cy="2609850"/>
          </a:xfrm>
          <a:prstGeom prst="roundRect">
            <a:avLst>
              <a:gd name="adj" fmla="val 3771"/>
            </a:avLst>
          </a:prstGeom>
          <a:solidFill>
            <a:srgbClr val="19212D"/>
          </a:solidFill>
          <a:ln w="6350">
            <a:solidFill>
              <a:srgbClr val="2F3B4D"/>
            </a:solidFill>
            <a:prstDash val="solid"/>
          </a:ln>
        </p:spPr>
      </p:sp>
      <p:pic>
        <p:nvPicPr>
          <p:cNvPr id="15" name="Image 2" descr="Ескіз 3: Т-подібний коридор, у якому гравця затискають у глухому куті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08950" y="1771650"/>
            <a:ext cx="3136900" cy="15240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08950" y="3397250"/>
            <a:ext cx="176923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4F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Т-подібний коридор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0224664" y="3365500"/>
            <a:ext cx="1002136" cy="276860"/>
          </a:xfrm>
          <a:custGeom>
            <a:avLst/>
            <a:gdLst/>
            <a:ahLst/>
            <a:cxnLst/>
            <a:rect l="l" t="t" r="r" b="b"/>
            <a:pathLst>
              <a:path w="1002136" h="276860">
                <a:moveTo>
                  <a:pt x="120650" y="0"/>
                </a:moveTo>
                <a:lnTo>
                  <a:pt x="881486" y="0"/>
                </a:lnTo>
                <a:arcTo hR="120650" wR="120650" stAng="16200000" swAng="5400000"/>
                <a:lnTo>
                  <a:pt x="1002136" y="156210"/>
                </a:lnTo>
                <a:arcTo hR="120650" wR="120650" stAng="0" swAng="5400000"/>
                <a:lnTo>
                  <a:pt x="120650" y="276860"/>
                </a:lnTo>
                <a:arcTo hR="120650" wR="120650" stAng="5400000" swAng="5400000"/>
                <a:lnTo>
                  <a:pt x="0" y="120650"/>
                </a:lnTo>
                <a:arcTo hR="120650" wR="120650" stAng="10800000" swAng="5400000"/>
                <a:close/>
              </a:path>
            </a:pathLst>
          </a:custGeom>
          <a:solidFill>
            <a:srgbClr val="3A1218"/>
          </a:solidFill>
          <a:ln w="12700">
            <a:solidFill>
              <a:srgbClr val="FF6B7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E3E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Відхилено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108950" y="3712211"/>
            <a:ext cx="3217926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Затиснення в глухих кутах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15975" y="4397375"/>
            <a:ext cx="6805083" cy="1221740"/>
          </a:xfrm>
          <a:prstGeom prst="roundRect">
            <a:avLst>
              <a:gd name="adj" fmla="val 8056"/>
            </a:avLst>
          </a:prstGeom>
          <a:solidFill>
            <a:srgbClr val="19212D"/>
          </a:solidFill>
          <a:ln w="6350">
            <a:solidFill>
              <a:srgbClr val="2F3B4D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96950" y="4540250"/>
            <a:ext cx="663642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6EA8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Швидкий тест · одногрупник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08456" y="4817111"/>
            <a:ext cx="6517301" cy="684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494" indent="-1424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E3E8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Знайдено: ривок блокується біля вузького проходу</a:t>
            </a:r>
            <a:endParaRPr lang="en-US" sz="1200" dirty="0"/>
          </a:p>
          <a:p>
            <a:pPr algn="l" marL="142494" indent="-1424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E3E8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Знайдено: пропуски 3-го удару</a:t>
            </a:r>
            <a:endParaRPr lang="en-US" sz="1200" dirty="0"/>
          </a:p>
          <a:p>
            <a:pPr algn="l" marL="142494" indent="-14249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E3E8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Виправлено: Input Buffer 200 мс, простір біля колон +20%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782983" y="4400550"/>
            <a:ext cx="3589867" cy="1215390"/>
          </a:xfrm>
          <a:prstGeom prst="roundRect">
            <a:avLst>
              <a:gd name="adj" fmla="val 7837"/>
            </a:avLst>
          </a:prstGeom>
          <a:solidFill>
            <a:srgbClr val="14284A"/>
          </a:solidFill>
          <a:ln w="12700">
            <a:solidFill>
              <a:srgbClr val="6EA8FF"/>
            </a:solidFill>
            <a:prstDash val="solid"/>
          </a:ln>
        </p:spPr>
      </p:sp>
      <p:pic>
        <p:nvPicPr>
          <p:cNvPr id="23" name="Image 3" descr="Lin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967133" y="4546600"/>
            <a:ext cx="254000" cy="2540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297333" y="4566921"/>
            <a:ext cx="11762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F4F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Веб-прототип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967133" y="4864100"/>
            <a:ext cx="331821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3E8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Інтерактивний білд на HTML5 Canvas · GitHub Pages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812800" y="6238239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7A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Arena Action · Частина 1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7A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6 / 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6EA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07 · КОМАНДА ТА ІНСТРУМЕНТИ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64261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F2F4F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Ролі, стек і вибір ідеї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625600"/>
            <a:ext cx="53632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ІНДИВІДУАЛЬНИЙ ПРОЄКТ · 3 РОЛІ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5975" y="1918336"/>
            <a:ext cx="5200650" cy="590550"/>
          </a:xfrm>
          <a:prstGeom prst="roundRect">
            <a:avLst>
              <a:gd name="adj" fmla="val 16667"/>
            </a:avLst>
          </a:prstGeom>
          <a:solidFill>
            <a:srgbClr val="19212D"/>
          </a:solidFill>
          <a:ln w="6350">
            <a:solidFill>
              <a:srgbClr val="2F3B4D"/>
            </a:solidFill>
            <a:prstDash val="solid"/>
          </a:ln>
        </p:spPr>
      </p:sp>
      <p:pic>
        <p:nvPicPr>
          <p:cNvPr id="6" name="Image 0" descr="Co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950" y="2061211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8750" y="2091689"/>
            <a:ext cx="269290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F2F4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Gameplay Programmer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15975" y="2591436"/>
            <a:ext cx="5200650" cy="590550"/>
          </a:xfrm>
          <a:prstGeom prst="roundRect">
            <a:avLst>
              <a:gd name="adj" fmla="val 16667"/>
            </a:avLst>
          </a:prstGeom>
          <a:solidFill>
            <a:srgbClr val="19212D"/>
          </a:solidFill>
          <a:ln w="6350">
            <a:solidFill>
              <a:srgbClr val="2F3B4D"/>
            </a:solidFill>
            <a:prstDash val="solid"/>
          </a:ln>
        </p:spPr>
      </p:sp>
      <p:pic>
        <p:nvPicPr>
          <p:cNvPr id="9" name="Image 1" descr="Lightbulb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6950" y="2734311"/>
            <a:ext cx="304800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28750" y="2764789"/>
            <a:ext cx="272008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F2F4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System Game Designer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815975" y="3264536"/>
            <a:ext cx="5200650" cy="590550"/>
          </a:xfrm>
          <a:prstGeom prst="roundRect">
            <a:avLst>
              <a:gd name="adj" fmla="val 16667"/>
            </a:avLst>
          </a:prstGeom>
          <a:solidFill>
            <a:srgbClr val="19212D"/>
          </a:solidFill>
          <a:ln w="6350">
            <a:solidFill>
              <a:srgbClr val="2F3B4D"/>
            </a:solidFill>
            <a:prstDash val="solid"/>
          </a:ln>
        </p:spPr>
      </p:sp>
      <p:pic>
        <p:nvPicPr>
          <p:cNvPr id="12" name="Image 2" descr="Tool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96950" y="3407411"/>
            <a:ext cx="304800" cy="304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28750" y="3437889"/>
            <a:ext cx="215480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F2F4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3D Blockout Artist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172200" y="1625600"/>
            <a:ext cx="53632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ЯК ОБРАЛИ ІДЕЮ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178550" y="1921511"/>
            <a:ext cx="5194300" cy="520700"/>
          </a:xfrm>
          <a:prstGeom prst="roundRect">
            <a:avLst>
              <a:gd name="adj" fmla="val 18293"/>
            </a:avLst>
          </a:prstGeom>
          <a:solidFill>
            <a:srgbClr val="3A1218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362700" y="2067561"/>
            <a:ext cx="180936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FFE3E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Масштабна RPG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0229469" y="2075179"/>
            <a:ext cx="95923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E3E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Відхилено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178550" y="2531111"/>
            <a:ext cx="5194300" cy="1320800"/>
          </a:xfrm>
          <a:prstGeom prst="roundRect">
            <a:avLst>
              <a:gd name="adj" fmla="val 7212"/>
            </a:avLst>
          </a:prstGeom>
          <a:solidFill>
            <a:srgbClr val="0F2E22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362700" y="2832100"/>
            <a:ext cx="444078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E6FFF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Одна ключова система: тактильна бойова механіка (game feel)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0775738" y="2847339"/>
            <a:ext cx="46376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DC9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Обрано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362700" y="3352800"/>
            <a:ext cx="497078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A8EBC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Її можна якісно протестувати за семестр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12800" y="401066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ІНСТРУМЕНТИ ТА ЗБЕРЕЖЕННЯ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15975" y="4303396"/>
            <a:ext cx="2520950" cy="704850"/>
          </a:xfrm>
          <a:prstGeom prst="roundRect">
            <a:avLst>
              <a:gd name="adj" fmla="val 13964"/>
            </a:avLst>
          </a:prstGeom>
          <a:solidFill>
            <a:srgbClr val="19212D"/>
          </a:solidFill>
          <a:ln w="6350">
            <a:solidFill>
              <a:srgbClr val="2F3B4D"/>
            </a:solidFill>
            <a:prstDash val="solid"/>
          </a:ln>
        </p:spPr>
      </p:sp>
      <p:pic>
        <p:nvPicPr>
          <p:cNvPr id="24" name="Image 3" descr="Play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71550" y="4516121"/>
            <a:ext cx="279400" cy="2794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52550" y="4446271"/>
            <a:ext cx="745807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F2F4F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Unity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1352550" y="4682489"/>
            <a:ext cx="834009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прототип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3495675" y="4303396"/>
            <a:ext cx="2520950" cy="704850"/>
          </a:xfrm>
          <a:prstGeom prst="roundRect">
            <a:avLst>
              <a:gd name="adj" fmla="val 13964"/>
            </a:avLst>
          </a:prstGeom>
          <a:solidFill>
            <a:srgbClr val="19212D"/>
          </a:solidFill>
          <a:ln w="6350">
            <a:solidFill>
              <a:srgbClr val="2F3B4D"/>
            </a:solidFill>
            <a:prstDash val="solid"/>
          </a:ln>
        </p:spPr>
      </p:sp>
      <p:pic>
        <p:nvPicPr>
          <p:cNvPr id="28" name="Image 4" descr="Wrench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651250" y="4516121"/>
            <a:ext cx="279400" cy="2794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032250" y="4446271"/>
            <a:ext cx="934297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F2F4F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Blender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4032250" y="4682489"/>
            <a:ext cx="10601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3D-blockout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6175375" y="4303396"/>
            <a:ext cx="2520950" cy="704850"/>
          </a:xfrm>
          <a:prstGeom prst="roundRect">
            <a:avLst>
              <a:gd name="adj" fmla="val 13964"/>
            </a:avLst>
          </a:prstGeom>
          <a:solidFill>
            <a:srgbClr val="19212D"/>
          </a:solidFill>
          <a:ln w="6350">
            <a:solidFill>
              <a:srgbClr val="2F3B4D"/>
            </a:solidFill>
            <a:prstDash val="solid"/>
          </a:ln>
        </p:spPr>
      </p:sp>
      <p:pic>
        <p:nvPicPr>
          <p:cNvPr id="32" name="Image 5" descr="Char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330950" y="4516121"/>
            <a:ext cx="279400" cy="2794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11950" y="4446271"/>
            <a:ext cx="1485773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F2F4F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Figma / draw.io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6711950" y="4682489"/>
            <a:ext cx="1288944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схеми й ескізи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8855075" y="4303396"/>
            <a:ext cx="2520950" cy="704850"/>
          </a:xfrm>
          <a:prstGeom prst="roundRect">
            <a:avLst>
              <a:gd name="adj" fmla="val 13964"/>
            </a:avLst>
          </a:prstGeom>
          <a:solidFill>
            <a:srgbClr val="19212D"/>
          </a:solidFill>
          <a:ln w="6350">
            <a:solidFill>
              <a:srgbClr val="2F3B4D"/>
            </a:solidFill>
            <a:prstDash val="solid"/>
          </a:ln>
        </p:spPr>
      </p:sp>
      <p:pic>
        <p:nvPicPr>
          <p:cNvPr id="36" name="Image 6" descr="Link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010650" y="4516121"/>
            <a:ext cx="279400" cy="2794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391650" y="4446271"/>
            <a:ext cx="1241425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F2F4F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Git (GitHub)</a:t>
            </a:r>
            <a:endParaRPr lang="en-US" sz="1600" dirty="0"/>
          </a:p>
        </p:txBody>
      </p:sp>
      <p:sp>
        <p:nvSpPr>
          <p:cNvPr id="38" name="Text 29"/>
          <p:cNvSpPr/>
          <p:nvPr/>
        </p:nvSpPr>
        <p:spPr>
          <a:xfrm>
            <a:off x="9391650" y="4682489"/>
            <a:ext cx="142875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B4BFC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контроль версій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812800" y="6238239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7A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Arena Action · Частина 1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7A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7 / 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50" kern="0" dirty="0">
                <a:solidFill>
                  <a:srgbClr val="6EA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08 · ЩО ДАЛІ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64261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F2F4F8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План до Частини 2 та ризики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9150" y="1631950"/>
            <a:ext cx="3407833" cy="1557655"/>
          </a:xfrm>
          <a:prstGeom prst="roundRect">
            <a:avLst>
              <a:gd name="adj" fmla="val 6115"/>
            </a:avLst>
          </a:prstGeom>
          <a:solidFill>
            <a:srgbClr val="0F2E22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3300" y="1790700"/>
            <a:ext cx="313071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DDC97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MUST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01344" y="2110739"/>
            <a:ext cx="3025055" cy="722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E6FFF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3-ударне комбо з буфером 200 мс</a:t>
            </a:r>
            <a:endParaRPr lang="en-US" sz="1300" dirty="0"/>
          </a:p>
          <a:p>
            <a:pPr algn="l" marL="155956" indent="-1559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E6FFF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Dash-cancel з i-frames 0.2 с</a:t>
            </a:r>
            <a:endParaRPr lang="en-US" sz="1300" dirty="0"/>
          </a:p>
          <a:p>
            <a:pPr algn="l" marL="155956" indent="-1559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E6FFF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Хітбокси та hit-stop / hit-flash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92083" y="1631950"/>
            <a:ext cx="3407833" cy="1557655"/>
          </a:xfrm>
          <a:prstGeom prst="roundRect">
            <a:avLst>
              <a:gd name="adj" fmla="val 6115"/>
            </a:avLst>
          </a:prstGeom>
          <a:solidFill>
            <a:srgbClr val="14284A"/>
          </a:solidFill>
          <a:ln w="12700">
            <a:solidFill>
              <a:srgbClr val="6EA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6233" y="1790700"/>
            <a:ext cx="313071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6EA8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SHOULD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74277" y="2110739"/>
            <a:ext cx="3025055" cy="945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F2F4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Перемикання 2 модулів зброї на льоту</a:t>
            </a:r>
            <a:endParaRPr lang="en-US" sz="1300" dirty="0"/>
          </a:p>
          <a:p>
            <a:pPr algn="l" marL="155956" indent="-1559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F2F4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Арена з 4 колонами</a:t>
            </a:r>
            <a:endParaRPr lang="en-US" sz="1300" dirty="0"/>
          </a:p>
          <a:p>
            <a:pPr algn="l" marL="155956" indent="-1559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F2F4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Базовий AI ворогів (NavMesh)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65017" y="1631950"/>
            <a:ext cx="3407833" cy="1557655"/>
          </a:xfrm>
          <a:prstGeom prst="roundRect">
            <a:avLst>
              <a:gd name="adj" fmla="val 6115"/>
            </a:avLst>
          </a:prstGeom>
          <a:solidFill>
            <a:srgbClr val="19212D"/>
          </a:solidFill>
          <a:ln w="12700">
            <a:solidFill>
              <a:srgbClr val="7F8A9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9167" y="1790700"/>
            <a:ext cx="313071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4BFC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COULD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47211" y="2110739"/>
            <a:ext cx="3025055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5956" indent="-1559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E3E8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VFX-шлейфи ударів і ривка</a:t>
            </a:r>
            <a:endParaRPr lang="en-US" sz="1300" dirty="0"/>
          </a:p>
          <a:p>
            <a:pPr algn="l" marL="155956" indent="-1559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E3E8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Звукові ефекти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975" y="3351529"/>
            <a:ext cx="2330450" cy="953770"/>
          </a:xfrm>
          <a:prstGeom prst="roundRect">
            <a:avLst>
              <a:gd name="adj" fmla="val 10320"/>
            </a:avLst>
          </a:prstGeom>
          <a:solidFill>
            <a:srgbClr val="19212D"/>
          </a:solidFill>
          <a:ln w="6350">
            <a:solidFill>
              <a:srgbClr val="2F3B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1550" y="3481704"/>
            <a:ext cx="20798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EA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ТИЖДЕНЬ 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71550" y="3745864"/>
            <a:ext cx="2079879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2F4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State Machine і рух у Unity</a:t>
            </a:r>
            <a:endParaRPr lang="en-US" sz="1300" dirty="0"/>
          </a:p>
        </p:txBody>
      </p:sp>
      <p:pic>
        <p:nvPicPr>
          <p:cNvPr id="16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25800" y="3764914"/>
            <a:ext cx="254000" cy="1270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3559175" y="3351529"/>
            <a:ext cx="2330450" cy="953770"/>
          </a:xfrm>
          <a:prstGeom prst="roundRect">
            <a:avLst>
              <a:gd name="adj" fmla="val 10320"/>
            </a:avLst>
          </a:prstGeom>
          <a:solidFill>
            <a:srgbClr val="19212D"/>
          </a:solidFill>
          <a:ln w="6350">
            <a:solidFill>
              <a:srgbClr val="2F3B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14750" y="3481704"/>
            <a:ext cx="20798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EA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ТИЖДЕНЬ 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714750" y="3745864"/>
            <a:ext cx="207987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2F4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Комбо й Input Buffer</a:t>
            </a:r>
            <a:endParaRPr lang="en-US" sz="1300" dirty="0"/>
          </a:p>
        </p:txBody>
      </p:sp>
      <p:pic>
        <p:nvPicPr>
          <p:cNvPr id="20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69000" y="3764914"/>
            <a:ext cx="254000" cy="12700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302375" y="3351529"/>
            <a:ext cx="2330450" cy="953770"/>
          </a:xfrm>
          <a:prstGeom prst="roundRect">
            <a:avLst>
              <a:gd name="adj" fmla="val 10320"/>
            </a:avLst>
          </a:prstGeom>
          <a:solidFill>
            <a:srgbClr val="19212D"/>
          </a:solidFill>
          <a:ln w="6350">
            <a:solidFill>
              <a:srgbClr val="2F3B4D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57950" y="3481704"/>
            <a:ext cx="20798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EA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ТИЖДЕНЬ 3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457950" y="3745864"/>
            <a:ext cx="2079879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2F4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Dash-cancel і blockout арени</a:t>
            </a:r>
            <a:endParaRPr lang="en-US" sz="1300" dirty="0"/>
          </a:p>
        </p:txBody>
      </p:sp>
      <p:pic>
        <p:nvPicPr>
          <p:cNvPr id="24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12200" y="3764914"/>
            <a:ext cx="254000" cy="12700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9045575" y="3351529"/>
            <a:ext cx="2330450" cy="953770"/>
          </a:xfrm>
          <a:prstGeom prst="roundRect">
            <a:avLst>
              <a:gd name="adj" fmla="val 10320"/>
            </a:avLst>
          </a:prstGeom>
          <a:solidFill>
            <a:srgbClr val="19212D"/>
          </a:solidFill>
          <a:ln w="6350">
            <a:solidFill>
              <a:srgbClr val="2F3B4D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9201150" y="3481704"/>
            <a:ext cx="20798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6EA8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ТИЖДЕНЬ 4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9201150" y="3745864"/>
            <a:ext cx="2079879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2F4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Вороги на NavMesh, фідбек і фінальний білд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819150" y="4467225"/>
            <a:ext cx="10553700" cy="737870"/>
          </a:xfrm>
          <a:prstGeom prst="roundRect">
            <a:avLst>
              <a:gd name="adj" fmla="val 12909"/>
            </a:avLst>
          </a:prstGeom>
          <a:solidFill>
            <a:srgbClr val="3A1218"/>
          </a:solidFill>
          <a:ln w="12700">
            <a:solidFill>
              <a:srgbClr val="FF6B7A"/>
            </a:solidFill>
            <a:prstDash val="solid"/>
          </a:ln>
        </p:spPr>
      </p:sp>
      <p:pic>
        <p:nvPicPr>
          <p:cNvPr id="29" name="Image 3" descr="Warning">    </p:cNvPr>
          <p:cNvPicPr>
            <a:picLocks noChangeAspect="1"/>
          </p:cNvPicPr>
          <p:nvPr/>
        </p:nvPicPr>
        <p:blipFill>
          <a:blip r:embed="rId4"/>
          <a:srcRect l="-437" r="-437" t="0" b="0"/>
          <a:stretch/>
        </p:blipFill>
        <p:spPr>
          <a:xfrm>
            <a:off x="1003300" y="4683758"/>
            <a:ext cx="269028" cy="3048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424728" y="4613275"/>
            <a:ext cx="10056891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FFE3E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Головний ризик:</a:t>
            </a:r>
            <a:r>
              <a:rPr lang="en-US" sz="1300" dirty="0">
                <a:solidFill>
                  <a:srgbClr val="FFE3E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конфлікт переходів у State Machine при перериванні атак ривком. Перевірка — у перші 7 днів на сірих примітивах у Unity.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7321550" y="869950"/>
            <a:ext cx="4051300" cy="594360"/>
          </a:xfrm>
          <a:prstGeom prst="roundRect">
            <a:avLst>
              <a:gd name="adj" fmla="val 13889"/>
            </a:avLst>
          </a:prstGeom>
          <a:solidFill>
            <a:srgbClr val="19212D"/>
          </a:solidFill>
          <a:ln w="12700">
            <a:solidFill>
              <a:srgbClr val="6EA8FF"/>
            </a:solidFill>
            <a:prstDash val="solid"/>
          </a:ln>
        </p:spPr>
        <p:txBody>
          <a:bodyPr wrap="square" lIns="134572" tIns="58372" rIns="22558" bIns="32972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2F4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Фінальний формат:</a:t>
            </a:r>
            <a:r>
              <a:rPr lang="en-US" sz="1300" dirty="0">
                <a:solidFill>
                  <a:srgbClr val="F2F4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ігровий прототип однієї механіки (Playable prototype)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812800" y="6238242"/>
            <a:ext cx="4578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7A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Arena Action · Частина 1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B97A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8 / 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ena Action — Прототип бойової механіки">
  <a:themeElements>
    <a:clrScheme name="Arena Action — Прототип бойової механіки">
      <a:dk1>
        <a:srgbClr val="0E1116"/>
      </a:dk1>
      <a:lt1>
        <a:srgbClr val="F2F4F8"/>
      </a:lt1>
      <a:dk2>
        <a:srgbClr val="25282D"/>
      </a:dk2>
      <a:lt2>
        <a:srgbClr val="B9BBC0"/>
      </a:lt2>
      <a:accent1>
        <a:srgbClr val="6EA8FF"/>
      </a:accent1>
      <a:accent2>
        <a:srgbClr val="3A1218"/>
      </a:accent2>
      <a:accent3>
        <a:srgbClr val="14284A"/>
      </a:accent3>
      <a:accent4>
        <a:srgbClr val="3DDC97"/>
      </a:accent4>
      <a:accent5>
        <a:srgbClr val="3A2F0B"/>
      </a:accent5>
      <a:accent6>
        <a:srgbClr val="FFF4D1"/>
      </a:accent6>
      <a:hlink>
        <a:srgbClr val="0563C1"/>
      </a:hlink>
      <a:folHlink>
        <a:srgbClr val="954F72"/>
      </a:folHlink>
    </a:clrScheme>
    <a:fontScheme name="Arena Action — Прототип бойової механіки">
      <a:majorFont>
        <a:latin typeface="Oswa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ubi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Arena Action — Прототип бойової механіки</dc:title>
  <dc:subject/>
  <dc:creator/>
  <cp:lastModifiedBy/>
  <cp:revision>1</cp:revision>
  <dcterms:created xsi:type="dcterms:W3CDTF">2026-10-14T12:11:23Z</dcterms:created>
  <dcterms:modified xsi:type="dcterms:W3CDTF">2026-10-14T12:11:23Z</dcterms:modified>
</cp:coreProperties>
</file>